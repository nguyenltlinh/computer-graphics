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1"/>
  </p:notesMasterIdLst>
  <p:handoutMasterIdLst>
    <p:handoutMasterId r:id="rId22"/>
  </p:handoutMasterIdLst>
  <p:sldIdLst>
    <p:sldId id="275" r:id="rId2"/>
    <p:sldId id="276" r:id="rId3"/>
    <p:sldId id="257" r:id="rId4"/>
    <p:sldId id="265" r:id="rId5"/>
    <p:sldId id="267" r:id="rId6"/>
    <p:sldId id="271" r:id="rId7"/>
    <p:sldId id="272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1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5/23/2023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5/23/2023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5/23/2023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5/23/2023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5/23/2023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5/23/2023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5/23/2023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83" r:id="rId5"/>
    <p:sldLayoutId id="2147483676" r:id="rId6"/>
    <p:sldLayoutId id="2147483679" r:id="rId7"/>
    <p:sldLayoutId id="2147483680" r:id="rId8"/>
    <p:sldLayoutId id="2147483681" r:id="rId9"/>
    <p:sldLayoutId id="2147483682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ET4730</a:t>
            </a:r>
            <a:br>
              <a:rPr lang="en-US"/>
            </a:br>
            <a:r>
              <a:rPr lang="en-US"/>
              <a:t>Computer Graphics</a:t>
            </a:r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Camera Movement</a:t>
            </a:r>
            <a:endParaRPr lang="en-US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/>
              <a:t>Lecturer: Nguyen Dinh Van, PhD.</a:t>
            </a:r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Camera movement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Delta time concept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Team Challenge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Camera Movement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D01BF1-8CAB-D8E3-45FD-E61377F5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Reminder: Camera / View Space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D81FC8-9164-E395-65DF-EF2D11C4BF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View space: coordinate system that has origin at the camera position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E26FF77-92D1-30AC-96F9-D5FBB415C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083" y="2919250"/>
            <a:ext cx="647700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Camera Movement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Look around: Euler angles</a:t>
            </a:r>
          </a:p>
          <a:p>
            <a:pPr lvl="1"/>
            <a:r>
              <a:rPr lang="en-US"/>
              <a:t>3 values: Yaw, Pitch, Row</a:t>
            </a:r>
          </a:p>
          <a:p>
            <a:pPr lvl="1"/>
            <a:r>
              <a:rPr lang="en-US"/>
              <a:t>Can describe any rotation in 3D</a:t>
            </a:r>
          </a:p>
          <a:p>
            <a:r>
              <a:rPr lang="en-US"/>
              <a:t>Yaw: left right movement</a:t>
            </a:r>
          </a:p>
          <a:p>
            <a:r>
              <a:rPr lang="en-US"/>
              <a:t>Pitch: up down movement</a:t>
            </a:r>
          </a:p>
          <a:p>
            <a:r>
              <a:rPr lang="en-US"/>
              <a:t>Roll: rolling movement </a:t>
            </a:r>
          </a:p>
          <a:p>
            <a:pPr lvl="1"/>
            <a:r>
              <a:rPr lang="en-US"/>
              <a:t>(skip for now)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5" name="Picture 2" descr="Phân biệt các loại tay cầm chống rung cho điện thoại - SMARTBUY">
            <a:extLst>
              <a:ext uri="{FF2B5EF4-FFF2-40B4-BE49-F238E27FC236}">
                <a16:creationId xmlns:a16="http://schemas.microsoft.com/office/drawing/2014/main" id="{1F91C3F9-33A5-1BA1-C890-CDD08ACF9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516" y="3157590"/>
            <a:ext cx="2972305" cy="270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Camera Movement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Pitch: an angle in radian</a:t>
            </a:r>
          </a:p>
          <a:p>
            <a:pPr lvl="1">
              <a:defRPr/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sin(pitch)</a:t>
            </a:r>
          </a:p>
          <a:p>
            <a:pPr lvl="1">
              <a:defRPr/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cos(pitch)</a:t>
            </a:r>
          </a:p>
          <a:p>
            <a:pPr lvl="1">
              <a:defRPr/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 cos(pitch)</a:t>
            </a:r>
            <a:endParaRPr lang="en-US" sz="140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5" name="Picture 2" descr="Phân biệt các loại tay cầm chống rung cho điện thoại - SMARTBUY">
            <a:extLst>
              <a:ext uri="{FF2B5EF4-FFF2-40B4-BE49-F238E27FC236}">
                <a16:creationId xmlns:a16="http://schemas.microsoft.com/office/drawing/2014/main" id="{1F91C3F9-33A5-1BA1-C890-CDD08ACF9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516" y="3157590"/>
            <a:ext cx="2972305" cy="270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DEAC05-B643-2541-F2D9-53C99EBFA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9" y="2962711"/>
            <a:ext cx="3689625" cy="337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1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Camera Movement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Yaw: an angle in radian</a:t>
            </a:r>
          </a:p>
          <a:p>
            <a:pPr lvl="1">
              <a:defRPr/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cos(yaw)</a:t>
            </a:r>
          </a:p>
          <a:p>
            <a:pPr lvl="1">
              <a:defRPr/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 sin(yaw)</a:t>
            </a:r>
            <a:endParaRPr lang="en-US" sz="140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5" name="Picture 2" descr="Phân biệt các loại tay cầm chống rung cho điện thoại - SMARTBUY">
            <a:extLst>
              <a:ext uri="{FF2B5EF4-FFF2-40B4-BE49-F238E27FC236}">
                <a16:creationId xmlns:a16="http://schemas.microsoft.com/office/drawing/2014/main" id="{1F91C3F9-33A5-1BA1-C890-CDD08ACF9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516" y="3157590"/>
            <a:ext cx="2972305" cy="270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E950EC-A905-8F65-E26F-C5E91EECD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98" y="3249023"/>
            <a:ext cx="3132773" cy="284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31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Camera Movement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Pitch and Yaw: combined movement</a:t>
            </a:r>
          </a:p>
          <a:p>
            <a:pPr lvl="1">
              <a:defRPr/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cos(yaw) x cos (pitch)</a:t>
            </a:r>
          </a:p>
          <a:p>
            <a:pPr lvl="1">
              <a:defRPr/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sin(pitch)</a:t>
            </a:r>
          </a:p>
          <a:p>
            <a:pPr lvl="1">
              <a:defRPr/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 sin(yaw) x cos (pitch)</a:t>
            </a:r>
          </a:p>
          <a:p>
            <a:pPr lvl="1">
              <a:defRPr/>
            </a:pPr>
            <a:endParaRPr lang="en-US" sz="200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8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use x,y,z to update the camera direction!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5" name="Picture 2" descr="Phân biệt các loại tay cầm chống rung cho điện thoại - SMARTBUY">
            <a:extLst>
              <a:ext uri="{FF2B5EF4-FFF2-40B4-BE49-F238E27FC236}">
                <a16:creationId xmlns:a16="http://schemas.microsoft.com/office/drawing/2014/main" id="{1F91C3F9-33A5-1BA1-C890-CDD08ACF9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516" y="3157590"/>
            <a:ext cx="2972305" cy="270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50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65EC13-3951-2E56-F6F9-1DB738C0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3EFAF6-B3F1-DC8E-0313-20C13A8A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Camera movement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6BE74-404A-433E-69B1-C528213545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Strategy to move camera using mouse:</a:t>
            </a:r>
          </a:p>
          <a:p>
            <a:pPr lvl="1"/>
            <a:r>
              <a:rPr lang="en-US"/>
              <a:t>Store old mouse position</a:t>
            </a:r>
          </a:p>
          <a:p>
            <a:pPr lvl="1"/>
            <a:r>
              <a:rPr lang="en-US"/>
              <a:t>Compare to new position</a:t>
            </a:r>
          </a:p>
          <a:p>
            <a:pPr lvl="1"/>
            <a:r>
              <a:rPr lang="en-US"/>
              <a:t>Find pitch/yaw change using the difference</a:t>
            </a:r>
          </a:p>
          <a:p>
            <a:pPr lvl="1"/>
            <a:r>
              <a:rPr lang="en-US"/>
              <a:t>Update camera direction</a:t>
            </a:r>
          </a:p>
          <a:p>
            <a:r>
              <a:rPr lang="en-US"/>
              <a:t>Hint: using </a:t>
            </a:r>
          </a:p>
          <a:p>
            <a:pPr lvl="1"/>
            <a:r>
              <a:rPr lang="en-US"/>
              <a:t>glfwSetCursorPosCallback(window, callback);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05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839A1A-1EB0-1396-B15E-829867A2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Delta Time Concept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7AB215-9B4C-B42F-6819-1D29AC988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699DEC-5566-0725-9512-3A03855D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19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2555B-3BC7-7C4E-80FD-7EB8CFD8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979973-9628-5A4E-0ACD-419CC971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Delta time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9726B-FEEE-3C5C-F7A9-810AD9E8E3A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Delta time: </a:t>
            </a:r>
          </a:p>
          <a:p>
            <a:pPr lvl="1"/>
            <a:r>
              <a:rPr lang="en-US"/>
              <a:t>Check how much time has passed since last event loop</a:t>
            </a:r>
          </a:p>
          <a:p>
            <a:pPr lvl="1"/>
            <a:r>
              <a:rPr lang="en-US"/>
              <a:t>Depends on physical machine and workload</a:t>
            </a:r>
          </a:p>
          <a:p>
            <a:r>
              <a:rPr lang="en-US"/>
              <a:t>Usage:</a:t>
            </a:r>
          </a:p>
          <a:p>
            <a:pPr lvl="1"/>
            <a:r>
              <a:rPr lang="en-US"/>
              <a:t>Camera smooth movement should be constant speed</a:t>
            </a:r>
          </a:p>
          <a:p>
            <a:pPr lvl="1"/>
            <a:r>
              <a:rPr lang="en-US"/>
              <a:t>Using delta time to calculate displacement of camera position:</a:t>
            </a:r>
          </a:p>
          <a:p>
            <a:pPr lvl="2"/>
            <a:r>
              <a:rPr lang="en-US"/>
              <a:t>Camera_pos = camera_pos + deltaTime * speed</a:t>
            </a:r>
          </a:p>
        </p:txBody>
      </p:sp>
      <p:pic>
        <p:nvPicPr>
          <p:cNvPr id="1028" name="Picture 4" descr="Solving Wobbly DeltaTime in Vsync-Enabled Games – Thinking Inside a  Different Box">
            <a:extLst>
              <a:ext uri="{FF2B5EF4-FFF2-40B4-BE49-F238E27FC236}">
                <a16:creationId xmlns:a16="http://schemas.microsoft.com/office/drawing/2014/main" id="{991C574C-8733-1071-82D2-E58EF4AA9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42" y="4059888"/>
            <a:ext cx="7325214" cy="226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302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F98BF-2133-5613-FF7C-DD3BEE8B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DE76BC-1540-4073-F025-9CB2A348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Delta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D6BAC-08B7-6D8F-1E4B-404E293FB2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Fixed Delta time:</a:t>
            </a:r>
          </a:p>
          <a:p>
            <a:pPr lvl="1"/>
            <a:r>
              <a:rPr lang="en-US"/>
              <a:t>Simplest way</a:t>
            </a:r>
          </a:p>
          <a:p>
            <a:pPr lvl="1"/>
            <a:r>
              <a:rPr lang="en-US"/>
              <a:t>Define a fixed number ex: double dt = 1.0/60;</a:t>
            </a:r>
          </a:p>
          <a:p>
            <a:pPr lvl="1"/>
            <a:r>
              <a:rPr lang="en-US"/>
              <a:t>Use this fixed number in calculation</a:t>
            </a:r>
          </a:p>
          <a:p>
            <a:r>
              <a:rPr lang="en-US"/>
              <a:t>Problem:</a:t>
            </a:r>
          </a:p>
          <a:p>
            <a:pPr lvl="1"/>
            <a:r>
              <a:rPr lang="en-US"/>
              <a:t>In a real world system, it is impossible to pre-calculate the refresh rate / process rate of GPU</a:t>
            </a:r>
          </a:p>
          <a:p>
            <a:pPr lvl="1"/>
            <a:r>
              <a:rPr lang="en-US"/>
              <a:t>Movement could be faster or slower than intended.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01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F98BF-2133-5613-FF7C-DD3BEE8B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DE76BC-1540-4073-F025-9CB2A348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Delta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D6BAC-08B7-6D8F-1E4B-404E293FB2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Variable Delta time:</a:t>
            </a:r>
          </a:p>
          <a:p>
            <a:pPr lvl="1"/>
            <a:r>
              <a:rPr lang="en-US"/>
              <a:t>Decalre a variable to keep track of time</a:t>
            </a:r>
          </a:p>
          <a:p>
            <a:pPr lvl="2"/>
            <a:r>
              <a:rPr lang="en-US"/>
              <a:t>E.g., double dt = getCurrentTime();</a:t>
            </a:r>
          </a:p>
          <a:p>
            <a:pPr lvl="1"/>
            <a:r>
              <a:rPr lang="en-US"/>
              <a:t>Calculate time change in the loop</a:t>
            </a:r>
          </a:p>
          <a:p>
            <a:pPr lvl="2"/>
            <a:r>
              <a:rPr lang="en-US"/>
              <a:t>i.e., dt = getCurrentTime() – dt;</a:t>
            </a:r>
          </a:p>
          <a:p>
            <a:pPr lvl="1"/>
            <a:r>
              <a:rPr lang="en-US"/>
              <a:t>Using the delta time as is.</a:t>
            </a:r>
          </a:p>
          <a:p>
            <a:r>
              <a:rPr lang="en-US"/>
              <a:t>Problem:</a:t>
            </a:r>
          </a:p>
          <a:p>
            <a:pPr lvl="1"/>
            <a:r>
              <a:rPr lang="en-US"/>
              <a:t>Complex physic simulation depends on the delta time calculated.</a:t>
            </a:r>
          </a:p>
          <a:p>
            <a:pPr lvl="1"/>
            <a:r>
              <a:rPr lang="en-US"/>
              <a:t>But detaTime depends on processing speed (less job to do, smaller deltaTime)</a:t>
            </a:r>
          </a:p>
          <a:p>
            <a:pPr lvl="1"/>
            <a:r>
              <a:rPr lang="en-US"/>
              <a:t>Hence inconsistent behavior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F98BF-2133-5613-FF7C-DD3BEE8B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DE76BC-1540-4073-F025-9CB2A348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Delta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D6BAC-08B7-6D8F-1E4B-404E293FB2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Semi-fixed Delta time:</a:t>
            </a:r>
          </a:p>
          <a:p>
            <a:pPr lvl="1"/>
            <a:r>
              <a:rPr lang="en-US"/>
              <a:t>Similar to variable delta time</a:t>
            </a:r>
          </a:p>
          <a:p>
            <a:pPr lvl="1"/>
            <a:r>
              <a:rPr lang="en-US"/>
              <a:t>Declare an upper limit</a:t>
            </a:r>
          </a:p>
          <a:p>
            <a:pPr lvl="1"/>
            <a:r>
              <a:rPr lang="en-US"/>
              <a:t>Use only the minimum value between actual delta_time and upper limit</a:t>
            </a:r>
          </a:p>
          <a:p>
            <a:r>
              <a:rPr lang="en-US"/>
              <a:t>Why?</a:t>
            </a:r>
          </a:p>
          <a:p>
            <a:pPr lvl="1"/>
            <a:r>
              <a:rPr lang="en-US"/>
              <a:t>Ensure consistent behavior on slower machine</a:t>
            </a:r>
          </a:p>
          <a:p>
            <a:pPr lvl="1"/>
            <a:r>
              <a:rPr lang="en-US"/>
              <a:t>Allowing faster behavior on faster machine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48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274257-2B97-8893-8FD1-B53410E2F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Challenge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84199B-33F0-3914-1AF6-2420FB293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25216-CB96-4EAC-49C4-157DB82A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89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E92C1-11F7-1C6D-2012-0C10DD70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17CB16-B50E-D3E3-13FE-3115BFC4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Challenge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026BB-9133-A6AB-4B8E-8753ADEAA5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Using information / given code structure, teams must perform following:</a:t>
            </a:r>
          </a:p>
          <a:p>
            <a:pPr lvl="1"/>
            <a:r>
              <a:rPr lang="en-US"/>
              <a:t>Draw a cube</a:t>
            </a:r>
          </a:p>
          <a:p>
            <a:pPr lvl="1"/>
            <a:r>
              <a:rPr lang="en-US"/>
              <a:t>Set up a camera</a:t>
            </a:r>
          </a:p>
          <a:p>
            <a:pPr lvl="1"/>
            <a:r>
              <a:rPr lang="en-US"/>
              <a:t>Move camera around using keyboard</a:t>
            </a:r>
          </a:p>
          <a:p>
            <a:pPr lvl="1"/>
            <a:r>
              <a:rPr lang="en-US"/>
              <a:t>Move camera around using mouse (optional)</a:t>
            </a:r>
          </a:p>
          <a:p>
            <a:pPr lvl="1"/>
            <a:r>
              <a:rPr lang="en-US"/>
              <a:t>Setup one-click action (hit one button and the camera move in a pre-defined behavior)</a:t>
            </a:r>
          </a:p>
          <a:p>
            <a:r>
              <a:rPr lang="en-US"/>
              <a:t>Evaluation:</a:t>
            </a:r>
          </a:p>
          <a:p>
            <a:pPr lvl="1"/>
            <a:r>
              <a:rPr lang="en-US"/>
              <a:t>In-complete project: -1 (midterm - team)</a:t>
            </a:r>
          </a:p>
          <a:p>
            <a:pPr lvl="1"/>
            <a:r>
              <a:rPr lang="en-US"/>
              <a:t>Complete project: 0</a:t>
            </a:r>
          </a:p>
          <a:p>
            <a:pPr lvl="1"/>
            <a:r>
              <a:rPr lang="en-US"/>
              <a:t>Exceptional (top 5): +1 (midterm – team)</a:t>
            </a:r>
          </a:p>
          <a:p>
            <a:r>
              <a:rPr lang="en-US">
                <a:solidFill>
                  <a:srgbClr val="FF0000"/>
                </a:solidFill>
              </a:rPr>
              <a:t>No</a:t>
            </a:r>
            <a:r>
              <a:rPr lang="en-US"/>
              <a:t> explanation/support will be given to any team.</a:t>
            </a:r>
          </a:p>
        </p:txBody>
      </p:sp>
    </p:spTree>
    <p:extLst>
      <p:ext uri="{BB962C8B-B14F-4D97-AF65-F5344CB8AC3E}">
        <p14:creationId xmlns:p14="http://schemas.microsoft.com/office/powerpoint/2010/main" val="1085387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554</Words>
  <Application>Microsoft Office PowerPoint</Application>
  <PresentationFormat>On-screen Show (4:3)</PresentationFormat>
  <Paragraphs>111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Lato</vt:lpstr>
      <vt:lpstr>Times New Roman</vt:lpstr>
      <vt:lpstr>Office Theme</vt:lpstr>
      <vt:lpstr>PowerPoint Presentation</vt:lpstr>
      <vt:lpstr>ET4730 Computer Graphics</vt:lpstr>
      <vt:lpstr>PowerPoint Presentation</vt:lpstr>
      <vt:lpstr>Content</vt:lpstr>
      <vt:lpstr>1. Camera Movement</vt:lpstr>
      <vt:lpstr>Reminder: Camera / View Space</vt:lpstr>
      <vt:lpstr>Camera Movement</vt:lpstr>
      <vt:lpstr>Camera Movement</vt:lpstr>
      <vt:lpstr>Camera Movement</vt:lpstr>
      <vt:lpstr>Camera Movement</vt:lpstr>
      <vt:lpstr>Camera movement</vt:lpstr>
      <vt:lpstr>Delta Time Concept</vt:lpstr>
      <vt:lpstr>Delta time</vt:lpstr>
      <vt:lpstr>Delta time</vt:lpstr>
      <vt:lpstr>Delta time</vt:lpstr>
      <vt:lpstr>Delta time</vt:lpstr>
      <vt:lpstr>Team Challenge</vt:lpstr>
      <vt:lpstr>Team Challenge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Dinh Van - Vien MICA</cp:lastModifiedBy>
  <cp:revision>20</cp:revision>
  <dcterms:created xsi:type="dcterms:W3CDTF">2021-05-28T04:32:29Z</dcterms:created>
  <dcterms:modified xsi:type="dcterms:W3CDTF">2023-05-22T20:31:38Z</dcterms:modified>
</cp:coreProperties>
</file>