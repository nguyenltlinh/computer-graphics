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8" r:id="rId1"/>
  </p:sldMasterIdLst>
  <p:notesMasterIdLst>
    <p:notesMasterId r:id="rId27"/>
  </p:notesMasterIdLst>
  <p:handoutMasterIdLst>
    <p:handoutMasterId r:id="rId28"/>
  </p:handoutMasterIdLst>
  <p:sldIdLst>
    <p:sldId id="275" r:id="rId2"/>
    <p:sldId id="276" r:id="rId3"/>
    <p:sldId id="257" r:id="rId4"/>
    <p:sldId id="265" r:id="rId5"/>
    <p:sldId id="267" r:id="rId6"/>
    <p:sldId id="272" r:id="rId7"/>
    <p:sldId id="277" r:id="rId8"/>
    <p:sldId id="281" r:id="rId9"/>
    <p:sldId id="282" r:id="rId10"/>
    <p:sldId id="283" r:id="rId11"/>
    <p:sldId id="278" r:id="rId12"/>
    <p:sldId id="284" r:id="rId13"/>
    <p:sldId id="279" r:id="rId14"/>
    <p:sldId id="280" r:id="rId15"/>
    <p:sldId id="285" r:id="rId16"/>
    <p:sldId id="274" r:id="rId17"/>
    <p:sldId id="287" r:id="rId18"/>
    <p:sldId id="288" r:id="rId19"/>
    <p:sldId id="289" r:id="rId20"/>
    <p:sldId id="290" r:id="rId21"/>
    <p:sldId id="292" r:id="rId22"/>
    <p:sldId id="291" r:id="rId23"/>
    <p:sldId id="293" r:id="rId24"/>
    <p:sldId id="294" r:id="rId25"/>
    <p:sldId id="269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150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5EAC724-B034-4F10-A9E8-56851A79B80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0872BB-3892-4F66-9266-36ADB83FAD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B45424-6BAC-416C-8F6C-5F9DE854A36B}" type="datetimeFigureOut">
              <a:rPr lang="en-US" smtClean="0"/>
              <a:t>4/10/2023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CA138F-B9BA-4997-B3C2-DA8B17B6D5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E86FBF-0AC4-4904-8ED7-0BD6E9AC71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4D737-83BD-4FDE-8CF3-8BC01E7FC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07374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733702-C25A-40B9-9167-54BAA79B29B0}" type="datetimeFigureOut">
              <a:rPr lang="en-US" smtClean="0"/>
              <a:t>4/10/2023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2FC7A4-3D1B-482D-8C9D-7642A2CE30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92653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59802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6">
            <a:extLst>
              <a:ext uri="{FF2B5EF4-FFF2-40B4-BE49-F238E27FC236}">
                <a16:creationId xmlns:a16="http://schemas.microsoft.com/office/drawing/2014/main" id="{C5DD3B49-F775-49FC-ACAD-45B074D1C9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80488" y="2365248"/>
            <a:ext cx="4383024" cy="2127504"/>
          </a:xfrm>
          <a:prstGeom prst="rect">
            <a:avLst/>
          </a:prstGeom>
        </p:spPr>
        <p:txBody>
          <a:bodyPr/>
          <a:lstStyle>
            <a:lvl1pPr algn="ctr">
              <a:defRPr sz="4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788040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6494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0FC03-A82E-4B34-AE4B-8AC40A0CD5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4/10/2023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9FB7E-C73B-452D-861A-6C73FF59E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733BD-32DD-483E-A597-B70529CBD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6">
            <a:extLst>
              <a:ext uri="{FF2B5EF4-FFF2-40B4-BE49-F238E27FC236}">
                <a16:creationId xmlns:a16="http://schemas.microsoft.com/office/drawing/2014/main" id="{44DCE4FD-DEE1-4DE9-A40E-616ACEB2FE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1: ………………………………………</a:t>
            </a:r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90DFCEB3-810D-48E5-B7BA-1A6C924A64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5077" y="841247"/>
            <a:ext cx="8674100" cy="530339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75470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1D2FCDAA-D1AE-440A-ADEA-98F1ACB064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4/10/2023</a:t>
            </a:fld>
            <a:endParaRPr 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C4186984-389F-440C-BD79-8D1349BD8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5C66723D-7FE6-462E-9733-48764D89B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3483232-D29A-4255-9149-0177F87858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8828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A1BAF8AD-67D8-46AD-A292-05589E8273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0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itle 6">
            <a:extLst>
              <a:ext uri="{FF2B5EF4-FFF2-40B4-BE49-F238E27FC236}">
                <a16:creationId xmlns:a16="http://schemas.microsoft.com/office/drawing/2014/main" id="{EFD61387-9809-4E21-B8EA-93815E5E8F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4: ………………………………………</a:t>
            </a:r>
          </a:p>
        </p:txBody>
      </p:sp>
    </p:spTree>
    <p:extLst>
      <p:ext uri="{BB962C8B-B14F-4D97-AF65-F5344CB8AC3E}">
        <p14:creationId xmlns:p14="http://schemas.microsoft.com/office/powerpoint/2010/main" val="13534025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6">
            <a:extLst>
              <a:ext uri="{FF2B5EF4-FFF2-40B4-BE49-F238E27FC236}">
                <a16:creationId xmlns:a16="http://schemas.microsoft.com/office/drawing/2014/main" id="{689FBFE6-E7AD-40DE-88B8-794C73F956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11295" y="224917"/>
            <a:ext cx="5397627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5: ……………………………………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1C2ED7A5-CBB5-4B5C-BD2A-3596087A71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24251" y="1011238"/>
            <a:ext cx="5384672" cy="552926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E21F2271-B488-4DC9-A50E-592D82F22CE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4/10/2023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706E966D-F219-41DE-82BF-3F3121B7D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AF61A491-C108-489A-B2EA-9FC27DAD4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33887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74BADCE4-794A-4B69-9AB7-3D794A1F9A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6: ………………………………………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375D86-D290-4003-A314-C916116C4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5884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B62406B-26DB-4A01-B048-1F2C7540F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9056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A52862E5-D8E1-49BF-8D1B-BF0ED6579E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4/10/2023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591AAF74-01FB-49A8-9375-959140F1D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BBF4BC2F-980C-499D-A4B9-E7CD3D447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85406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4/10/2023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7: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1227550"/>
            <a:ext cx="8674100" cy="4868449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342310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74BADCE4-794A-4B69-9AB7-3D794A1F9A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8: ………………………………………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375D86-D290-4003-A314-C916116C4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5884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B62406B-26DB-4A01-B048-1F2C7540F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9056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A52862E5-D8E1-49BF-8D1B-BF0ED6579E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4/10/2023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591AAF74-01FB-49A8-9375-959140F1D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BBF4BC2F-980C-499D-A4B9-E7CD3D447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0188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4/10/2023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9: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1164920"/>
            <a:ext cx="8674100" cy="4931079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664829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6EAE966-F590-4BAF-A55B-75735FCC66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4/10/2023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330CA1C-4366-43E8-9DC8-B360FC115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2DB13F6-9193-4FE2-AE85-5B96248CC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7046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9895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83" r:id="rId5"/>
    <p:sldLayoutId id="2147483676" r:id="rId6"/>
    <p:sldLayoutId id="2147483679" r:id="rId7"/>
    <p:sldLayoutId id="2147483680" r:id="rId8"/>
    <p:sldLayoutId id="2147483681" r:id="rId9"/>
    <p:sldLayoutId id="2147483682" r:id="rId10"/>
    <p:sldLayoutId id="2147483678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20864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A3716-1A4C-0838-86B6-64CAAF77D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ET4730</a:t>
            </a:r>
            <a:br>
              <a:rPr lang="en-US"/>
            </a:br>
            <a:r>
              <a:rPr lang="en-US"/>
              <a:t>Computer Graphics</a:t>
            </a:r>
          </a:p>
        </p:txBody>
      </p:sp>
    </p:spTree>
    <p:extLst>
      <p:ext uri="{BB962C8B-B14F-4D97-AF65-F5344CB8AC3E}">
        <p14:creationId xmlns:p14="http://schemas.microsoft.com/office/powerpoint/2010/main" val="9450034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3">
            <a:extLst>
              <a:ext uri="{FF2B5EF4-FFF2-40B4-BE49-F238E27FC236}">
                <a16:creationId xmlns:a16="http://schemas.microsoft.com/office/drawing/2014/main" id="{67FB4AA9-E9AF-4CE0-A0DC-99D7952890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3012" y="398419"/>
            <a:ext cx="2037225" cy="611594"/>
          </a:xfrm>
          <a:prstGeom prst="rect">
            <a:avLst/>
          </a:prstGeom>
        </p:spPr>
      </p:pic>
      <p:sp>
        <p:nvSpPr>
          <p:cNvPr id="11" name="Title 6">
            <a:extLst>
              <a:ext uri="{FF2B5EF4-FFF2-40B4-BE49-F238E27FC236}">
                <a16:creationId xmlns:a16="http://schemas.microsoft.com/office/drawing/2014/main" id="{FF8BDF70-CFA6-4031-86B7-31F910D8115D}"/>
              </a:ext>
            </a:extLst>
          </p:cNvPr>
          <p:cNvSpPr txBox="1">
            <a:spLocks/>
          </p:cNvSpPr>
          <p:nvPr/>
        </p:nvSpPr>
        <p:spPr>
          <a:xfrm>
            <a:off x="413012" y="2421636"/>
            <a:ext cx="7342482" cy="84879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OpenGL</a:t>
            </a:r>
            <a:endParaRPr lang="en-US" dirty="0"/>
          </a:p>
        </p:txBody>
      </p:sp>
      <p:sp>
        <p:nvSpPr>
          <p:cNvPr id="12" name="Title 6">
            <a:extLst>
              <a:ext uri="{FF2B5EF4-FFF2-40B4-BE49-F238E27FC236}">
                <a16:creationId xmlns:a16="http://schemas.microsoft.com/office/drawing/2014/main" id="{A4ACF486-B7D8-4A5A-B633-83527A2F99E2}"/>
              </a:ext>
            </a:extLst>
          </p:cNvPr>
          <p:cNvSpPr txBox="1">
            <a:spLocks/>
          </p:cNvSpPr>
          <p:nvPr/>
        </p:nvSpPr>
        <p:spPr>
          <a:xfrm>
            <a:off x="413012" y="3567622"/>
            <a:ext cx="7342482" cy="84879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2800" b="0"/>
              <a:t>Lecturer: Nguyen Dinh Van, PhD.</a:t>
            </a:r>
          </a:p>
          <a:p>
            <a:endParaRPr lang="en-US" sz="2800" b="0" dirty="0"/>
          </a:p>
        </p:txBody>
      </p:sp>
    </p:spTree>
    <p:extLst>
      <p:ext uri="{BB962C8B-B14F-4D97-AF65-F5344CB8AC3E}">
        <p14:creationId xmlns:p14="http://schemas.microsoft.com/office/powerpoint/2010/main" val="7431729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101F79-2CBF-4392-B538-B0B5700DB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EF27CAA-32BA-4E6B-B8C0-1A481E08E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Content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563378-38F8-4CB3-AF99-2C56FCF5540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/>
              <a:t>Introduction to OpenGL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GLEW, GLFW, GLM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Rendering Pipeline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640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A7ECF-1792-4255-AF79-1338056A1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1. Introduction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7A365B-2C63-46A3-AD64-BA52831BEC4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67697B-E2F6-452F-B4AF-9444ACC6F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40127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A5FD9F-F079-E7CB-275B-4B407F732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E73DABA-0E07-DDEE-86EE-B4224D9C9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OpenGL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A5E0C5-7F9C-BDE6-162B-F94E54DA8B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1227550"/>
            <a:ext cx="5789835" cy="4868449"/>
          </a:xfrm>
        </p:spPr>
        <p:txBody>
          <a:bodyPr/>
          <a:lstStyle/>
          <a:p>
            <a:r>
              <a:rPr lang="en-US"/>
              <a:t>A cross-platform API that allows graphical manipulation and rendering on physical devise</a:t>
            </a:r>
          </a:p>
          <a:p>
            <a:pPr lvl="1"/>
            <a:r>
              <a:rPr lang="en-US"/>
              <a:t>API: Application Programming Interface</a:t>
            </a:r>
          </a:p>
          <a:p>
            <a:pPr lvl="1"/>
            <a:r>
              <a:rPr lang="en-US"/>
              <a:t>Created: Silicon Graphics – 1992</a:t>
            </a:r>
          </a:p>
          <a:p>
            <a:pPr lvl="1"/>
            <a:r>
              <a:rPr lang="en-US"/>
              <a:t>Managing by: Khronos Group (Industrial Standard)</a:t>
            </a:r>
          </a:p>
          <a:p>
            <a:pPr lvl="1"/>
            <a:r>
              <a:rPr lang="en-US"/>
              <a:t>Cross-platform</a:t>
            </a:r>
          </a:p>
          <a:p>
            <a:pPr lvl="1"/>
            <a:r>
              <a:rPr lang="en-US"/>
              <a:t>Provide industrial level API for manipulation and rendering of graphical information</a:t>
            </a:r>
          </a:p>
          <a:p>
            <a:endParaRPr lang="en-US"/>
          </a:p>
        </p:txBody>
      </p:sp>
      <p:pic>
        <p:nvPicPr>
          <p:cNvPr id="5" name="Picture 2" descr="General OpenGL Architecture">
            <a:extLst>
              <a:ext uri="{FF2B5EF4-FFF2-40B4-BE49-F238E27FC236}">
                <a16:creationId xmlns:a16="http://schemas.microsoft.com/office/drawing/2014/main" id="{4A7BD7F6-2F3A-9455-F63A-663CF716DF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3029" y="1872326"/>
            <a:ext cx="3347685" cy="3113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447286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A5FD9F-F079-E7CB-275B-4B407F732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E73DABA-0E07-DDEE-86EE-B4224D9C9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OpenGL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A5E0C5-7F9C-BDE6-162B-F94E54DA8B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Has multiple variations</a:t>
            </a:r>
          </a:p>
          <a:p>
            <a:r>
              <a:rPr lang="en-US"/>
              <a:t>Two majors:</a:t>
            </a:r>
          </a:p>
          <a:p>
            <a:pPr lvl="1"/>
            <a:r>
              <a:rPr lang="en-US"/>
              <a:t>Legacy OpenGL (old version – fixed pipeline)</a:t>
            </a:r>
          </a:p>
          <a:p>
            <a:pPr lvl="1"/>
            <a:r>
              <a:rPr lang="en-US"/>
              <a:t>CoreProfile OpenGL (newer version – programmable pipeline)</a:t>
            </a:r>
          </a:p>
          <a:p>
            <a:pPr lvl="1"/>
            <a:r>
              <a:rPr lang="en-US"/>
              <a:t>CoreProfile is supported by almost all modern devices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58F4C4-1D8F-6B30-A076-A4DD1AB6CB8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86"/>
          <a:stretch/>
        </p:blipFill>
        <p:spPr bwMode="auto">
          <a:xfrm>
            <a:off x="1383822" y="3880255"/>
            <a:ext cx="6192026" cy="2331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55869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1901606-7F85-4F0B-EB15-F2C795676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D9BD30F-5888-A6A2-203D-70957DE71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OpenGL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D8EC88-50E6-DA9F-F86C-E46B7F6761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Fixed pipeline: </a:t>
            </a:r>
          </a:p>
          <a:p>
            <a:pPr lvl="1"/>
            <a:r>
              <a:rPr lang="en-US"/>
              <a:t>The processing steps are fixed</a:t>
            </a:r>
          </a:p>
          <a:p>
            <a:pPr lvl="1"/>
            <a:r>
              <a:rPr lang="en-US"/>
              <a:t>Can only change some parameters</a:t>
            </a:r>
          </a:p>
          <a:p>
            <a:pPr lvl="1"/>
            <a:r>
              <a:rPr lang="en-US"/>
              <a:t>No programming / calculation possible</a:t>
            </a:r>
          </a:p>
          <a:p>
            <a:r>
              <a:rPr lang="en-US"/>
              <a:t>Examples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B3B99F5-5757-6B40-8DF6-1386828DC7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9675" y="3725450"/>
            <a:ext cx="6724650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06623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1901606-7F85-4F0B-EB15-F2C795676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D9BD30F-5888-A6A2-203D-70957DE71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OpenGL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D8EC88-50E6-DA9F-F86C-E46B7F6761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Programmable pipeline: </a:t>
            </a:r>
          </a:p>
          <a:p>
            <a:pPr lvl="1"/>
            <a:r>
              <a:rPr lang="en-US"/>
              <a:t>The processing steps can be programmed</a:t>
            </a:r>
          </a:p>
          <a:p>
            <a:pPr lvl="1"/>
            <a:r>
              <a:rPr lang="en-US"/>
              <a:t>Can write a small program to do calculation, transformation etc.</a:t>
            </a:r>
          </a:p>
          <a:p>
            <a:r>
              <a:rPr lang="en-US"/>
              <a:t>Examples</a:t>
            </a:r>
          </a:p>
          <a:p>
            <a:pPr lvl="1"/>
            <a:r>
              <a:rPr lang="en-US"/>
              <a:t>TriangleShader.cpp</a:t>
            </a:r>
          </a:p>
          <a:p>
            <a:r>
              <a:rPr lang="en-US"/>
              <a:t>Differences:</a:t>
            </a:r>
          </a:p>
          <a:p>
            <a:endParaRPr lang="en-US"/>
          </a:p>
        </p:txBody>
      </p:sp>
      <p:graphicFrame>
        <p:nvGraphicFramePr>
          <p:cNvPr id="5" name="Table 6">
            <a:extLst>
              <a:ext uri="{FF2B5EF4-FFF2-40B4-BE49-F238E27FC236}">
                <a16:creationId xmlns:a16="http://schemas.microsoft.com/office/drawing/2014/main" id="{9748E666-B0A5-D52D-C3F4-AF6BE1E09A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7633544"/>
              </p:ext>
            </p:extLst>
          </p:nvPr>
        </p:nvGraphicFramePr>
        <p:xfrm>
          <a:off x="2497123" y="4170679"/>
          <a:ext cx="6096000" cy="1925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0870">
                  <a:extLst>
                    <a:ext uri="{9D8B030D-6E8A-4147-A177-3AD203B41FA5}">
                      <a16:colId xmlns:a16="http://schemas.microsoft.com/office/drawing/2014/main" val="1172889112"/>
                    </a:ext>
                  </a:extLst>
                </a:gridCol>
                <a:gridCol w="2382473">
                  <a:extLst>
                    <a:ext uri="{9D8B030D-6E8A-4147-A177-3AD203B41FA5}">
                      <a16:colId xmlns:a16="http://schemas.microsoft.com/office/drawing/2014/main" val="354205071"/>
                    </a:ext>
                  </a:extLst>
                </a:gridCol>
                <a:gridCol w="2242657">
                  <a:extLst>
                    <a:ext uri="{9D8B030D-6E8A-4147-A177-3AD203B41FA5}">
                      <a16:colId xmlns:a16="http://schemas.microsoft.com/office/drawing/2014/main" val="345873912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Fixed pipeline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Programmer pipeline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40141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>Limitation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Can only have limited set of pre-programmed functions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Can implement new functions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60228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>Hardware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Custom computation on CPU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Custom computation on GPU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2859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>Implementation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Easier for small scale, more complex in large scale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Complex for small scale, scalable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16445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30453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1901606-7F85-4F0B-EB15-F2C795676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D9BD30F-5888-A6A2-203D-70957DE71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OpenGL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D8EC88-50E6-DA9F-F86C-E46B7F6761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Legacy OpenGL:</a:t>
            </a:r>
          </a:p>
          <a:p>
            <a:pPr lvl="1"/>
            <a:r>
              <a:rPr lang="en-US"/>
              <a:t>Allow backward compatibility for old Opengl functions (fixed pipeline)</a:t>
            </a:r>
          </a:p>
          <a:p>
            <a:pPr lvl="1"/>
            <a:r>
              <a:rPr lang="en-US"/>
              <a:t>Can sometimes cause error in modern hardwares / softwares</a:t>
            </a:r>
          </a:p>
          <a:p>
            <a:r>
              <a:rPr lang="en-US"/>
              <a:t>Core Profile:</a:t>
            </a:r>
          </a:p>
          <a:p>
            <a:pPr lvl="1"/>
            <a:r>
              <a:rPr lang="en-US"/>
              <a:t>Introduce concept of </a:t>
            </a:r>
            <a:r>
              <a:rPr lang="en-US" i="1"/>
              <a:t>deprecation</a:t>
            </a:r>
          </a:p>
          <a:p>
            <a:pPr lvl="1"/>
            <a:r>
              <a:rPr lang="en-US"/>
              <a:t>Deprecation allows OpenGL only be optimized for modern features / extensions</a:t>
            </a:r>
          </a:p>
          <a:p>
            <a:pPr lvl="1"/>
            <a:r>
              <a:rPr lang="en-US"/>
              <a:t>Disable backward compatibility (before OpenGL 3.1)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7227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A5FD9F-F079-E7CB-275B-4B407F732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E73DABA-0E07-DDEE-86EE-B4224D9C9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GLEW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A5E0C5-7F9C-BDE6-162B-F94E54DA8B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GLEW: OpenGL Extension Wrangler </a:t>
            </a:r>
          </a:p>
          <a:p>
            <a:pPr lvl="1"/>
            <a:r>
              <a:rPr lang="en-US"/>
              <a:t>Allow load and test for compatibility of extensions (programmable pipeline)</a:t>
            </a:r>
          </a:p>
          <a:p>
            <a:r>
              <a:rPr lang="en-US"/>
              <a:t>Other alternatives: GL3W, glLoadGen, glad, glsdk, Glee…</a:t>
            </a:r>
          </a:p>
          <a:p>
            <a:r>
              <a:rPr lang="en-US"/>
              <a:t>To init GLEW:</a:t>
            </a:r>
          </a:p>
          <a:p>
            <a:pPr lvl="1"/>
            <a:r>
              <a:rPr lang="en-US"/>
              <a:t>glewinit()</a:t>
            </a:r>
          </a:p>
          <a:p>
            <a:r>
              <a:rPr lang="en-US"/>
              <a:t>Check for an extension existence:</a:t>
            </a:r>
          </a:p>
          <a:p>
            <a:pPr lvl="1"/>
            <a:r>
              <a:rPr lang="en-US"/>
              <a:t>if(!GLEW_EXT_framebuffer_object)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1904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156CAD5-E603-7892-18CF-2A4EA04D0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6BE326F-4094-18CA-5118-DF61A82E9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GLFW, SDL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9D6179-0B3E-64DA-9C35-2403111F475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vi-VN"/>
              <a:t>GLFW: OpenGL FrameWork</a:t>
            </a:r>
          </a:p>
          <a:p>
            <a:pPr lvl="1"/>
            <a:r>
              <a:rPr lang="en-US"/>
              <a:t>Allow windows creation and management</a:t>
            </a:r>
            <a:endParaRPr lang="vi-VN"/>
          </a:p>
          <a:p>
            <a:pPr lvl="1"/>
            <a:r>
              <a:rPr lang="en-US"/>
              <a:t>Handle user interactions</a:t>
            </a:r>
            <a:endParaRPr lang="vi-VN"/>
          </a:p>
          <a:p>
            <a:pPr lvl="1"/>
            <a:r>
              <a:rPr lang="en-US"/>
              <a:t>Support multiple monitors</a:t>
            </a:r>
            <a:endParaRPr lang="vi-VN"/>
          </a:p>
          <a:p>
            <a:pPr lvl="1"/>
            <a:r>
              <a:rPr lang="en-US"/>
              <a:t>Using the current OS context</a:t>
            </a:r>
            <a:endParaRPr lang="vi-VN"/>
          </a:p>
          <a:p>
            <a:pPr lvl="2"/>
            <a:r>
              <a:rPr lang="en-US"/>
              <a:t>Allow OpenGL to behaves in different OSes</a:t>
            </a:r>
            <a:endParaRPr lang="vi-VN"/>
          </a:p>
          <a:p>
            <a:r>
              <a:rPr lang="en-US"/>
              <a:t>Alternative</a:t>
            </a:r>
            <a:r>
              <a:rPr lang="vi-VN"/>
              <a:t>: SDL (Simple DirectMedia Layer)</a:t>
            </a:r>
          </a:p>
          <a:p>
            <a:pPr lvl="1"/>
            <a:r>
              <a:rPr lang="en-US"/>
              <a:t>Has GLFW functionality</a:t>
            </a:r>
            <a:endParaRPr lang="vi-VN"/>
          </a:p>
          <a:p>
            <a:pPr lvl="1"/>
            <a:r>
              <a:rPr lang="en-US"/>
              <a:t>Can process sound, multithread etc.</a:t>
            </a:r>
          </a:p>
        </p:txBody>
      </p:sp>
    </p:spTree>
    <p:extLst>
      <p:ext uri="{BB962C8B-B14F-4D97-AF65-F5344CB8AC3E}">
        <p14:creationId xmlns:p14="http://schemas.microsoft.com/office/powerpoint/2010/main" val="32567855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A5FD9F-F079-E7CB-275B-4B407F732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E73DABA-0E07-DDEE-86EE-B4224D9C9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GLM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A5E0C5-7F9C-BDE6-162B-F94E54DA8B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GLM: OpenGL Mathematics</a:t>
            </a:r>
          </a:p>
          <a:p>
            <a:pPr lvl="1"/>
            <a:r>
              <a:rPr lang="en-US"/>
              <a:t>A library in C++ for mathematics with OpenGL</a:t>
            </a:r>
          </a:p>
          <a:p>
            <a:pPr lvl="1"/>
            <a:r>
              <a:rPr lang="en-US"/>
              <a:t>Cross-platform</a:t>
            </a:r>
          </a:p>
          <a:p>
            <a:pPr lvl="1"/>
            <a:r>
              <a:rPr lang="en-US"/>
              <a:t>Can do complex rendering, image rasterization and graphics manipulation</a:t>
            </a:r>
          </a:p>
          <a:p>
            <a:r>
              <a:rPr lang="en-US"/>
              <a:t>References: https://glm.g-truc.net/</a:t>
            </a:r>
          </a:p>
        </p:txBody>
      </p:sp>
    </p:spTree>
    <p:extLst>
      <p:ext uri="{BB962C8B-B14F-4D97-AF65-F5344CB8AC3E}">
        <p14:creationId xmlns:p14="http://schemas.microsoft.com/office/powerpoint/2010/main" val="31693146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A5FD9F-F079-E7CB-275B-4B407F732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E73DABA-0E07-DDEE-86EE-B4224D9C9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Rendering pipeline &amp; Shaders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A5E0C5-7F9C-BDE6-162B-F94E54DA8B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Rendering pipeline</a:t>
            </a:r>
          </a:p>
          <a:p>
            <a:pPr lvl="1"/>
            <a:r>
              <a:rPr lang="en-US"/>
              <a:t>Series of events happen from beginning of data to GPU to monitor display</a:t>
            </a:r>
          </a:p>
          <a:p>
            <a:pPr lvl="1"/>
            <a:r>
              <a:rPr lang="en-US"/>
              <a:t>Optimized for GPU processing</a:t>
            </a:r>
          </a:p>
          <a:p>
            <a:pPr lvl="1"/>
            <a:r>
              <a:rPr lang="en-US"/>
              <a:t>Some steps can be </a:t>
            </a:r>
            <a:r>
              <a:rPr lang="en-US" i="1"/>
              <a:t>programmable</a:t>
            </a:r>
          </a:p>
          <a:p>
            <a:r>
              <a:rPr lang="en-US"/>
              <a:t>Shaders:</a:t>
            </a:r>
          </a:p>
          <a:p>
            <a:pPr lvl="1"/>
            <a:r>
              <a:rPr lang="en-US"/>
              <a:t>Mini-program written to be executed in rendering pipeline (</a:t>
            </a:r>
            <a:r>
              <a:rPr lang="en-US" i="1"/>
              <a:t>programmable</a:t>
            </a:r>
            <a:r>
              <a:rPr lang="en-US"/>
              <a:t>)</a:t>
            </a:r>
          </a:p>
          <a:p>
            <a:pPr lvl="1"/>
            <a:r>
              <a:rPr lang="en-US"/>
              <a:t>Using GLSL language (OpenGL Shading Language)</a:t>
            </a:r>
          </a:p>
          <a:p>
            <a:pPr lvl="1"/>
            <a:r>
              <a:rPr lang="en-US"/>
              <a:t>GLSL is extended from C</a:t>
            </a:r>
          </a:p>
          <a:p>
            <a:pPr lvl="1"/>
            <a:r>
              <a:rPr lang="en-US"/>
              <a:t>Often written to a separated text file, not compiled with the program</a:t>
            </a:r>
          </a:p>
        </p:txBody>
      </p:sp>
    </p:spTree>
    <p:extLst>
      <p:ext uri="{BB962C8B-B14F-4D97-AF65-F5344CB8AC3E}">
        <p14:creationId xmlns:p14="http://schemas.microsoft.com/office/powerpoint/2010/main" val="41972480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5287901-6E0A-174A-53AF-B51531898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CA4E2D9-2D28-2DCB-3949-65436135C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Rendering pipeline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27459B-1327-ED37-7F48-64BBDBED97C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2400"/>
              <a:t>7 steps:</a:t>
            </a:r>
          </a:p>
          <a:p>
            <a:pPr lvl="1"/>
            <a:r>
              <a:rPr lang="vi-VN" sz="2000"/>
              <a:t>Vertices Specification</a:t>
            </a:r>
            <a:endParaRPr lang="en-US" sz="2000"/>
          </a:p>
          <a:p>
            <a:pPr lvl="1"/>
            <a:r>
              <a:rPr lang="vi-VN" sz="2000"/>
              <a:t>Vertices Shader</a:t>
            </a:r>
            <a:r>
              <a:rPr lang="en-US" sz="2000"/>
              <a:t> (P)</a:t>
            </a:r>
            <a:endParaRPr lang="vi-VN" sz="2000"/>
          </a:p>
          <a:p>
            <a:pPr lvl="1"/>
            <a:r>
              <a:rPr lang="vi-VN" sz="2000"/>
              <a:t>Primitives Generation</a:t>
            </a:r>
          </a:p>
          <a:p>
            <a:pPr lvl="1"/>
            <a:r>
              <a:rPr lang="vi-VN" sz="2000"/>
              <a:t>Rasterization</a:t>
            </a:r>
            <a:endParaRPr lang="en-US" sz="2000"/>
          </a:p>
          <a:p>
            <a:pPr lvl="1"/>
            <a:r>
              <a:rPr lang="vi-VN" sz="2000"/>
              <a:t>Fragment Shader</a:t>
            </a:r>
            <a:r>
              <a:rPr lang="en-US" sz="2000"/>
              <a:t> (P)</a:t>
            </a:r>
            <a:endParaRPr lang="vi-VN" sz="2000"/>
          </a:p>
          <a:p>
            <a:pPr lvl="1"/>
            <a:r>
              <a:rPr lang="vi-VN" sz="2000"/>
              <a:t>Testing Blending</a:t>
            </a:r>
          </a:p>
          <a:p>
            <a:pPr lvl="1"/>
            <a:r>
              <a:rPr lang="vi-VN" sz="2000"/>
              <a:t>FrameBuffer</a:t>
            </a:r>
          </a:p>
          <a:p>
            <a:endParaRPr lang="en-US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4BC67DEB-82A1-E011-72A0-0B49344E21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322762"/>
            <a:ext cx="9144000" cy="17732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50437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9F331FF-7367-F4F4-10DC-9F4CB4892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A942A98-C171-982E-551D-E59FBFEFF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VAO &amp; VBO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5BA0D-33C2-2FFC-BFBC-D1CF3837647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vi-VN"/>
              <a:t>VAO: Vertex Array Objects</a:t>
            </a:r>
          </a:p>
          <a:p>
            <a:pPr lvl="1"/>
            <a:r>
              <a:rPr lang="en-US"/>
              <a:t>Describe data structure for vertices </a:t>
            </a:r>
            <a:r>
              <a:rPr lang="vi-VN"/>
              <a:t>(</a:t>
            </a:r>
            <a:r>
              <a:rPr lang="en-US"/>
              <a:t>position, color, direction, …</a:t>
            </a:r>
            <a:r>
              <a:rPr lang="vi-VN"/>
              <a:t>)</a:t>
            </a:r>
          </a:p>
          <a:p>
            <a:r>
              <a:rPr lang="vi-VN"/>
              <a:t>VBO: Vertex Buffer Objects</a:t>
            </a:r>
          </a:p>
          <a:p>
            <a:pPr lvl="1"/>
            <a:r>
              <a:rPr lang="en-US"/>
              <a:t>Actual data of vertices (comply with the structure in VAO)</a:t>
            </a:r>
            <a:endParaRPr lang="vi-VN"/>
          </a:p>
          <a:p>
            <a:r>
              <a:rPr lang="vi-VN"/>
              <a:t>Attribute Pointer</a:t>
            </a:r>
          </a:p>
          <a:p>
            <a:pPr lvl="1"/>
            <a:r>
              <a:rPr lang="en-US"/>
              <a:t>Allow shaders access data in VBO</a:t>
            </a:r>
            <a:r>
              <a:rPr lang="vi-VN"/>
              <a:t>.</a:t>
            </a:r>
          </a:p>
          <a:p>
            <a:r>
              <a:rPr lang="en-US"/>
              <a:t>VAO and VBO are loaded directly to GPU</a:t>
            </a:r>
          </a:p>
          <a:p>
            <a:pPr lvl="1"/>
            <a:r>
              <a:rPr lang="en-US"/>
              <a:t>Stored on GPU</a:t>
            </a:r>
          </a:p>
          <a:p>
            <a:pPr lvl="1"/>
            <a:r>
              <a:rPr lang="en-US"/>
              <a:t>Processed on GPU</a:t>
            </a:r>
            <a:endParaRPr lang="vi-VN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9574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F68303A-CF56-C34C-8F02-0482E4D39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3E6925F-7518-13CA-0803-A5138D0A3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VAO &amp; VBO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7BBFBA-9934-B6E7-925D-30A19B74D53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9015" y="2080370"/>
            <a:ext cx="2902533" cy="2941738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VAO, VBO in the code are just numbers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Create a VAO ID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sz="120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Connect VAO to the ID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Create a VBO ID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sz="120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Connect VBO to the ID (Connection between VAO and VBO will be done automatically)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sz="120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Assign value to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VBO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Define Attribute Pointers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sz="120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Allow attribute pointers to work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sz="120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Free VAO, VBO. Ready for the next object.</a:t>
            </a:r>
          </a:p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6731F35-7148-F872-B148-0AE3272A51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1410" y="1287446"/>
            <a:ext cx="5743575" cy="395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6120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FE69DD9-0254-71A1-4634-0140DCCEA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A4BA7A0-ECBD-E80B-893C-5BFE0A685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Vertex Shader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35CB8E-DA8D-5C57-6BDA-469FF97656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Programs that can be run on GPU</a:t>
            </a:r>
            <a:endParaRPr lang="vi-VN"/>
          </a:p>
          <a:p>
            <a:pPr lvl="1"/>
            <a:r>
              <a:rPr lang="en-US"/>
              <a:t>Required</a:t>
            </a:r>
            <a:endParaRPr lang="vi-VN"/>
          </a:p>
          <a:p>
            <a:pPr lvl="1"/>
            <a:r>
              <a:rPr lang="en-US"/>
              <a:t>Allow computation on input vertices</a:t>
            </a:r>
          </a:p>
          <a:p>
            <a:pPr lvl="1"/>
            <a:r>
              <a:rPr lang="en-US"/>
              <a:t>Allow adding more data later on</a:t>
            </a:r>
            <a:endParaRPr lang="vi-VN"/>
          </a:p>
          <a:p>
            <a:r>
              <a:rPr lang="en-US"/>
              <a:t>Example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5CB6CC5-47CA-2D6D-6228-3DD9DD4AD1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662" y="3763825"/>
            <a:ext cx="3876675" cy="1538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99068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6A781F3-4C50-BEAB-2E52-5E6BACD41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B09ECB7-1892-B27D-A7EA-F0D49CDFE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Fragment shader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34BC03-731C-4EA3-426F-81A20B493E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Fragment: result from rasterization step</a:t>
            </a:r>
          </a:p>
          <a:p>
            <a:pPr lvl="1"/>
            <a:r>
              <a:rPr lang="en-US"/>
              <a:t>Collection of pixels to display input images</a:t>
            </a:r>
          </a:p>
          <a:p>
            <a:pPr lvl="1"/>
            <a:r>
              <a:rPr lang="en-US"/>
              <a:t>These pixels can be transparent, blur or not displayed due to viewport</a:t>
            </a:r>
          </a:p>
          <a:p>
            <a:r>
              <a:rPr lang="en-US"/>
              <a:t>Fragment shader: manage and process data of fragments</a:t>
            </a:r>
          </a:p>
          <a:p>
            <a:pPr lvl="1"/>
            <a:r>
              <a:rPr lang="en-US"/>
              <a:t>Such as color of a fragment</a:t>
            </a:r>
          </a:p>
          <a:p>
            <a:pPr lvl="1"/>
            <a:endParaRPr lang="en-US"/>
          </a:p>
          <a:p>
            <a:pPr lvl="1"/>
            <a:endParaRPr lang="en-US"/>
          </a:p>
          <a:p>
            <a:pPr lvl="1"/>
            <a:endParaRPr lang="en-US"/>
          </a:p>
          <a:p>
            <a:r>
              <a:rPr lang="en-US"/>
              <a:t>A simplest OpenGL program requires both vertex shader and fragment shader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BF24A7-CE0C-3BE3-9084-B4B9100B7A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6569" y="4107143"/>
            <a:ext cx="3070861" cy="1115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5501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879501B-82FC-7BC0-5695-A7FCD06D0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B046C3D-F016-07CA-735F-C5B63E825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Shader program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9AD680-F67F-C89B-1E9B-7A6D99EB206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Shader program: a program contains set of shaders (Vertex, fragment shaders …)</a:t>
            </a:r>
          </a:p>
          <a:p>
            <a:r>
              <a:rPr lang="en-US"/>
              <a:t>Create inside OpenGL with following process:</a:t>
            </a:r>
          </a:p>
          <a:p>
            <a:pPr lvl="1"/>
            <a:r>
              <a:rPr lang="en-US"/>
              <a:t>An empty shader program is initialized</a:t>
            </a:r>
          </a:p>
          <a:p>
            <a:pPr lvl="1"/>
            <a:r>
              <a:rPr lang="en-US"/>
              <a:t>A set of empty shaders created</a:t>
            </a:r>
          </a:p>
          <a:p>
            <a:pPr lvl="1"/>
            <a:r>
              <a:rPr lang="en-US"/>
              <a:t>Assign shader code to respective-shader  (Vertex shader code to empty vertex shader)</a:t>
            </a:r>
          </a:p>
          <a:p>
            <a:pPr lvl="1"/>
            <a:r>
              <a:rPr lang="en-US"/>
              <a:t>Compile shaders</a:t>
            </a:r>
          </a:p>
          <a:p>
            <a:pPr lvl="1"/>
            <a:r>
              <a:rPr lang="en-US"/>
              <a:t>Assign shaders to the shader program</a:t>
            </a:r>
          </a:p>
          <a:p>
            <a:pPr lvl="1"/>
            <a:r>
              <a:rPr lang="en-US"/>
              <a:t>Link shaders together</a:t>
            </a:r>
          </a:p>
          <a:p>
            <a:pPr lvl="1"/>
            <a:r>
              <a:rPr lang="en-US"/>
              <a:t>Testing and verification</a:t>
            </a: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8566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70C6CD4-BB69-446A-2F95-D81792395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243971E-01E4-908F-7A8B-75D14D146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Shader program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C6D985-4D6F-5591-19FC-DCD1BBB5D0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Identify setps of shader program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CC7D0C9-5E1D-C92F-3484-C70218524E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2240" y="1641047"/>
            <a:ext cx="4026908" cy="4931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24664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4D8787C-DEEC-C6B4-A8B7-261F700CA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37EEB2A-0715-BBED-02F1-E9F3E075E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Practice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892C0E-AF47-1CE7-29C0-DF7A058590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Try different shapes drawing with OpenGL</a:t>
            </a:r>
          </a:p>
          <a:p>
            <a:r>
              <a:rPr lang="en-US"/>
              <a:t>Try colouring OpenGL</a:t>
            </a: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0430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4D8787C-DEEC-C6B4-A8B7-261F700CA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37EEB2A-0715-BBED-02F1-E9F3E075E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Practice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892C0E-AF47-1CE7-29C0-DF7A058590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Position layout</a:t>
            </a:r>
          </a:p>
          <a:p>
            <a:pPr lvl="1"/>
            <a:endParaRPr lang="en-US"/>
          </a:p>
        </p:txBody>
      </p:sp>
      <p:pic>
        <p:nvPicPr>
          <p:cNvPr id="1026" name="Picture 2" descr="Interleaved data of position and color within VBO to be configured wtih &lt;function id='30'&gt;glVertexAttribPointer&lt;/function&gt;">
            <a:extLst>
              <a:ext uri="{FF2B5EF4-FFF2-40B4-BE49-F238E27FC236}">
                <a16:creationId xmlns:a16="http://schemas.microsoft.com/office/drawing/2014/main" id="{E2180528-0DCF-D17C-8B8D-15AAE34FF7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0175" y="2457450"/>
            <a:ext cx="6343650" cy="1943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73010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4D8787C-DEEC-C6B4-A8B7-261F700CA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37EEB2A-0715-BBED-02F1-E9F3E075E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Practice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892C0E-AF47-1CE7-29C0-DF7A058590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2400"/>
              <a:t>glDrawArrays(GLenum </a:t>
            </a:r>
            <a:r>
              <a:rPr lang="en-US" sz="2400" i="1"/>
              <a:t>mode</a:t>
            </a:r>
            <a:r>
              <a:rPr lang="en-US" sz="2400"/>
              <a:t>,GLint </a:t>
            </a:r>
            <a:r>
              <a:rPr lang="en-US" sz="2400" i="1"/>
              <a:t>first</a:t>
            </a:r>
            <a:r>
              <a:rPr lang="en-US" sz="2400"/>
              <a:t>, GLsizei </a:t>
            </a:r>
            <a:r>
              <a:rPr lang="en-US" sz="2400" i="1"/>
              <a:t>count</a:t>
            </a:r>
            <a:r>
              <a:rPr lang="en-US" sz="2400"/>
              <a:t>);</a:t>
            </a:r>
          </a:p>
          <a:p>
            <a:r>
              <a:rPr lang="en-US" sz="2000" b="1"/>
              <a:t>Mode</a:t>
            </a:r>
            <a:r>
              <a:rPr lang="en-US" sz="2000"/>
              <a:t>: Specifies what kind of primitives to render. Symbolic constants are</a:t>
            </a:r>
          </a:p>
          <a:p>
            <a:r>
              <a:rPr lang="en-US" sz="2000" b="1"/>
              <a:t>First</a:t>
            </a:r>
            <a:r>
              <a:rPr lang="en-US" sz="2000"/>
              <a:t>: Specifies the starting index in the enabled arrays.</a:t>
            </a:r>
          </a:p>
          <a:p>
            <a:r>
              <a:rPr lang="en-US" sz="2000" b="1"/>
              <a:t>Count</a:t>
            </a:r>
            <a:r>
              <a:rPr lang="en-US" sz="2000"/>
              <a:t>: Specifies the number of indices to be rendered.</a:t>
            </a:r>
            <a:endParaRPr lang="en-US" sz="1600"/>
          </a:p>
          <a:p>
            <a:r>
              <a:rPr lang="en-US" sz="2000"/>
              <a:t>Accepted </a:t>
            </a:r>
            <a:r>
              <a:rPr lang="en-US" sz="2000" b="1"/>
              <a:t>mode</a:t>
            </a:r>
            <a:r>
              <a:rPr lang="en-US" sz="2000"/>
              <a:t>:</a:t>
            </a:r>
            <a:endParaRPr lang="en-US"/>
          </a:p>
          <a:p>
            <a:pPr lvl="1"/>
            <a:r>
              <a:rPr lang="en-US" sz="1800" i="1"/>
              <a:t>GL_LINE_STRIP</a:t>
            </a:r>
            <a:r>
              <a:rPr lang="en-US" sz="1800"/>
              <a:t>, </a:t>
            </a:r>
            <a:r>
              <a:rPr lang="en-US" sz="1800" i="1"/>
              <a:t>GL_LINE_LOOP</a:t>
            </a:r>
            <a:r>
              <a:rPr lang="en-US" sz="1800"/>
              <a:t>, </a:t>
            </a:r>
            <a:r>
              <a:rPr lang="en-US" sz="1800" i="1"/>
              <a:t>GL_LINES</a:t>
            </a:r>
            <a:r>
              <a:rPr lang="en-US" sz="1800"/>
              <a:t>, </a:t>
            </a:r>
            <a:r>
              <a:rPr lang="en-US" sz="1800" i="1"/>
              <a:t>GL_LINE_STRIP_ADJACENCY</a:t>
            </a:r>
            <a:r>
              <a:rPr lang="en-US" sz="1800"/>
              <a:t>, </a:t>
            </a:r>
            <a:r>
              <a:rPr lang="en-US" sz="1800" i="1"/>
              <a:t>GL_LINES_ADJACENCY, GL_TRIANGLE_STRIP, GL_TRIANGLE_FAN, GL_TRIANGLES, GL_TRIANGLE_STRIP_ADJACENCY, GL_TRIANGLES_ADJACENCY</a:t>
            </a:r>
            <a:r>
              <a:rPr lang="en-US" sz="1800"/>
              <a:t> and GL_PATCHES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1051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37B5C8-2095-4D2D-97FE-E4E8D8937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3" name="Title 10">
            <a:extLst>
              <a:ext uri="{FF2B5EF4-FFF2-40B4-BE49-F238E27FC236}">
                <a16:creationId xmlns:a16="http://schemas.microsoft.com/office/drawing/2014/main" id="{F78B3876-6ECC-4098-BDD1-C48CE4B42721}"/>
              </a:ext>
            </a:extLst>
          </p:cNvPr>
          <p:cNvSpPr txBox="1">
            <a:spLocks/>
          </p:cNvSpPr>
          <p:nvPr/>
        </p:nvSpPr>
        <p:spPr>
          <a:xfrm>
            <a:off x="4181094" y="3021991"/>
            <a:ext cx="4197975" cy="81401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4800" dirty="0"/>
              <a:t>THANK YOU !</a:t>
            </a:r>
          </a:p>
        </p:txBody>
      </p:sp>
    </p:spTree>
    <p:extLst>
      <p:ext uri="{BB962C8B-B14F-4D97-AF65-F5344CB8AC3E}">
        <p14:creationId xmlns:p14="http://schemas.microsoft.com/office/powerpoint/2010/main" val="28305356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339</TotalTime>
  <Words>896</Words>
  <Application>Microsoft Office PowerPoint</Application>
  <PresentationFormat>On-screen Show (4:3)</PresentationFormat>
  <Paragraphs>179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Calibri</vt:lpstr>
      <vt:lpstr>Lato</vt:lpstr>
      <vt:lpstr>Times New Roman</vt:lpstr>
      <vt:lpstr>Office Theme</vt:lpstr>
      <vt:lpstr>PowerPoint Presentation</vt:lpstr>
      <vt:lpstr>ET4730 Computer Graphics</vt:lpstr>
      <vt:lpstr>PowerPoint Presentation</vt:lpstr>
      <vt:lpstr>Content</vt:lpstr>
      <vt:lpstr>1. Introduction</vt:lpstr>
      <vt:lpstr>OpenGL</vt:lpstr>
      <vt:lpstr>OpenGL</vt:lpstr>
      <vt:lpstr>OpenGL</vt:lpstr>
      <vt:lpstr>OpenGL</vt:lpstr>
      <vt:lpstr>OpenGL</vt:lpstr>
      <vt:lpstr>GLEW</vt:lpstr>
      <vt:lpstr>GLFW, SDL</vt:lpstr>
      <vt:lpstr>GLM</vt:lpstr>
      <vt:lpstr>Rendering pipeline &amp; Shaders</vt:lpstr>
      <vt:lpstr>Rendering pipeline</vt:lpstr>
      <vt:lpstr>VAO &amp; VBO</vt:lpstr>
      <vt:lpstr>VAO &amp; VBO</vt:lpstr>
      <vt:lpstr>Vertex Shader</vt:lpstr>
      <vt:lpstr>Fragment shader</vt:lpstr>
      <vt:lpstr>Shader program</vt:lpstr>
      <vt:lpstr>Shader program</vt:lpstr>
      <vt:lpstr>Practice</vt:lpstr>
      <vt:lpstr>Practice</vt:lpstr>
      <vt:lpstr>Practice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Phong TT &amp; QTTH</dc:creator>
  <cp:lastModifiedBy>Nguyen Dinh Van - Vien MICA</cp:lastModifiedBy>
  <cp:revision>24</cp:revision>
  <dcterms:created xsi:type="dcterms:W3CDTF">2021-05-28T04:32:29Z</dcterms:created>
  <dcterms:modified xsi:type="dcterms:W3CDTF">2023-04-10T08:48:16Z</dcterms:modified>
</cp:coreProperties>
</file>