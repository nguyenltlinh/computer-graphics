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32"/>
  </p:notesMasterIdLst>
  <p:handoutMasterIdLst>
    <p:handoutMasterId r:id="rId33"/>
  </p:handoutMasterIdLst>
  <p:sldIdLst>
    <p:sldId id="275" r:id="rId2"/>
    <p:sldId id="276" r:id="rId3"/>
    <p:sldId id="257" r:id="rId4"/>
    <p:sldId id="265" r:id="rId5"/>
    <p:sldId id="267" r:id="rId6"/>
    <p:sldId id="277" r:id="rId7"/>
    <p:sldId id="272" r:id="rId8"/>
    <p:sldId id="274" r:id="rId9"/>
    <p:sldId id="278" r:id="rId10"/>
    <p:sldId id="282" r:id="rId11"/>
    <p:sldId id="283" r:id="rId12"/>
    <p:sldId id="284" r:id="rId13"/>
    <p:sldId id="285" r:id="rId14"/>
    <p:sldId id="279" r:id="rId15"/>
    <p:sldId id="280" r:id="rId16"/>
    <p:sldId id="281" r:id="rId17"/>
    <p:sldId id="286" r:id="rId18"/>
    <p:sldId id="287" r:id="rId19"/>
    <p:sldId id="288" r:id="rId20"/>
    <p:sldId id="289" r:id="rId21"/>
    <p:sldId id="290" r:id="rId22"/>
    <p:sldId id="295" r:id="rId23"/>
    <p:sldId id="291" r:id="rId24"/>
    <p:sldId id="292" r:id="rId25"/>
    <p:sldId id="293" r:id="rId26"/>
    <p:sldId id="294" r:id="rId27"/>
    <p:sldId id="296" r:id="rId28"/>
    <p:sldId id="297" r:id="rId29"/>
    <p:sldId id="298" r:id="rId30"/>
    <p:sldId id="269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4/17/2023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4/17/2023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4/17/2023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4/17/2023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4/17/2023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4/17/2023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4/17/2023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83" r:id="rId5"/>
    <p:sldLayoutId id="2147483676" r:id="rId6"/>
    <p:sldLayoutId id="2147483679" r:id="rId7"/>
    <p:sldLayoutId id="2147483680" r:id="rId8"/>
    <p:sldLayoutId id="2147483681" r:id="rId9"/>
    <p:sldLayoutId id="2147483682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lm.g-truc.net/0.9.9/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registry.khronos.org/OpenGL-Refpages/gl4/html/glUniform.xhtml" TargetMode="Externa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ET4730</a:t>
            </a:r>
            <a:br>
              <a:rPr lang="en-US"/>
            </a:br>
            <a:r>
              <a:rPr lang="en-US"/>
              <a:t>Computer Graphics</a:t>
            </a:r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OpenGL SL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/>
              <a:t>Lecturer: Nguyen Dinh Van, PhD.</a:t>
            </a:r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OpenGL Shader Language - GLSL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OpenGL Math - GLM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Practice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OpenGL Shader Language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GLSL Syntax</a:t>
            </a:r>
          </a:p>
          <a:p>
            <a:r>
              <a:rPr lang="en-US" dirty="0"/>
              <a:t>Shader</a:t>
            </a:r>
          </a:p>
          <a:p>
            <a:r>
              <a:rPr lang="en-US" dirty="0"/>
              <a:t>Interfaces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GLSL Syntax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Data types: scalar, vector, matrix, structure, array, …</a:t>
            </a:r>
          </a:p>
          <a:p>
            <a:r>
              <a:rPr lang="en-US" dirty="0"/>
              <a:t>Scalar:</a:t>
            </a:r>
          </a:p>
          <a:p>
            <a:pPr lvl="1"/>
            <a:r>
              <a:rPr lang="en-US" dirty="0"/>
              <a:t>float; double; bool; int; </a:t>
            </a:r>
            <a:r>
              <a:rPr lang="en-US" dirty="0" err="1"/>
              <a:t>uint</a:t>
            </a:r>
            <a:endParaRPr lang="en-US" dirty="0"/>
          </a:p>
          <a:p>
            <a:r>
              <a:rPr lang="en-US" dirty="0"/>
              <a:t>Vectors: </a:t>
            </a:r>
          </a:p>
          <a:p>
            <a:pPr lvl="1"/>
            <a:r>
              <a:rPr lang="en-US" dirty="0" err="1"/>
              <a:t>vec</a:t>
            </a:r>
            <a:r>
              <a:rPr lang="en-US" dirty="0"/>
              <a:t>{2,3,4} : a vector of 2, 3, 4 floats</a:t>
            </a:r>
          </a:p>
          <a:p>
            <a:pPr lvl="1"/>
            <a:r>
              <a:rPr lang="en-US" dirty="0" err="1"/>
              <a:t>dvec</a:t>
            </a:r>
            <a:r>
              <a:rPr lang="en-US" dirty="0"/>
              <a:t>{2,3,4} : a vector of 2, 3, 4 double</a:t>
            </a:r>
          </a:p>
          <a:p>
            <a:pPr lvl="1"/>
            <a:r>
              <a:rPr lang="en-US" dirty="0" err="1"/>
              <a:t>bvec</a:t>
            </a:r>
            <a:r>
              <a:rPr lang="en-US" dirty="0"/>
              <a:t>{2,3,4} : a vector of 2, 3, 4 bool</a:t>
            </a:r>
          </a:p>
          <a:p>
            <a:pPr lvl="1"/>
            <a:r>
              <a:rPr lang="en-US" dirty="0" err="1"/>
              <a:t>ivec</a:t>
            </a:r>
            <a:r>
              <a:rPr lang="en-US" dirty="0"/>
              <a:t>{2,3,4} : a vector of 2, 3, 4 integer</a:t>
            </a:r>
          </a:p>
          <a:p>
            <a:pPr lvl="1"/>
            <a:r>
              <a:rPr lang="en-US" dirty="0" err="1"/>
              <a:t>uvec</a:t>
            </a:r>
            <a:r>
              <a:rPr lang="en-US" dirty="0"/>
              <a:t>{2,3,4} : a vector of 2, 3, 4 unsigned integer</a:t>
            </a:r>
          </a:p>
          <a:p>
            <a:pPr lvl="1"/>
            <a:r>
              <a:rPr lang="en-US" dirty="0"/>
              <a:t>Example: vec2 vector2Dvariable;</a:t>
            </a:r>
          </a:p>
          <a:p>
            <a:pPr lvl="1"/>
            <a:r>
              <a:rPr lang="en-US" dirty="0"/>
              <a:t>Accessing element in vector: x, y, z, w components</a:t>
            </a:r>
          </a:p>
        </p:txBody>
      </p:sp>
    </p:spTree>
    <p:extLst>
      <p:ext uri="{BB962C8B-B14F-4D97-AF65-F5344CB8AC3E}">
        <p14:creationId xmlns:p14="http://schemas.microsoft.com/office/powerpoint/2010/main" val="838763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GLSL Syntax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Matrix:</a:t>
            </a:r>
          </a:p>
          <a:p>
            <a:pPr lvl="1"/>
            <a:r>
              <a:rPr lang="en-US" dirty="0"/>
              <a:t>Square matrices: </a:t>
            </a:r>
            <a:r>
              <a:rPr lang="en-US" b="1" i="1" dirty="0" err="1"/>
              <a:t>matn</a:t>
            </a:r>
            <a:r>
              <a:rPr lang="en-US" dirty="0"/>
              <a:t> mat{2,3,4}, </a:t>
            </a:r>
            <a:r>
              <a:rPr lang="en-US" dirty="0" err="1"/>
              <a:t>dmat</a:t>
            </a:r>
            <a:r>
              <a:rPr lang="en-US" dirty="0"/>
              <a:t>{2,3,4}</a:t>
            </a:r>
          </a:p>
          <a:p>
            <a:pPr lvl="1"/>
            <a:r>
              <a:rPr lang="en-US" dirty="0"/>
              <a:t>Non-square: </a:t>
            </a:r>
            <a:r>
              <a:rPr lang="en-US" b="1" i="1" dirty="0" err="1"/>
              <a:t>matnxm</a:t>
            </a:r>
            <a:r>
              <a:rPr lang="en-US" dirty="0"/>
              <a:t> (ex: mat4x3: 4 cols, 3 rows)</a:t>
            </a:r>
          </a:p>
          <a:p>
            <a:pPr lvl="1"/>
            <a:r>
              <a:rPr lang="en-US" dirty="0" err="1"/>
              <a:t>dmat</a:t>
            </a:r>
            <a:r>
              <a:rPr lang="en-US" dirty="0"/>
              <a:t> (double precision) only available from GL 4.0</a:t>
            </a:r>
          </a:p>
          <a:p>
            <a:pPr lvl="1"/>
            <a:r>
              <a:rPr lang="en-US" dirty="0"/>
              <a:t>Accessing element in matrix in array style</a:t>
            </a:r>
          </a:p>
          <a:p>
            <a:pPr marL="457200" lvl="1" indent="0">
              <a:buNone/>
            </a:pPr>
            <a:endParaRPr lang="en-US" i="1" dirty="0"/>
          </a:p>
          <a:p>
            <a:pPr marL="457200" lvl="1" indent="0">
              <a:buNone/>
            </a:pPr>
            <a:r>
              <a:rPr lang="en-US" i="1" dirty="0"/>
              <a:t>mat3x4  matrix;		// non-square matrix 4x3</a:t>
            </a:r>
          </a:p>
          <a:p>
            <a:pPr marL="457200" lvl="1" indent="0">
              <a:buNone/>
            </a:pPr>
            <a:r>
              <a:rPr lang="en-US" i="1" dirty="0"/>
              <a:t>matrix[2][0]; 		// first entry of the third columns</a:t>
            </a:r>
          </a:p>
          <a:p>
            <a:pPr marL="457200" lvl="1" indent="0">
              <a:buNone/>
            </a:pPr>
            <a:endParaRPr lang="en-US" i="1" dirty="0"/>
          </a:p>
          <a:p>
            <a:pPr marL="457200" lvl="1" indent="0">
              <a:buNone/>
            </a:pPr>
            <a:r>
              <a:rPr lang="en-US" i="1" dirty="0"/>
              <a:t>mat3 </a:t>
            </a:r>
            <a:r>
              <a:rPr lang="en-US" i="1" dirty="0" err="1"/>
              <a:t>theMatrix</a:t>
            </a:r>
            <a:r>
              <a:rPr lang="en-US" i="1" dirty="0"/>
              <a:t>;		// square matrix 3x3</a:t>
            </a:r>
          </a:p>
          <a:p>
            <a:pPr marL="457200" lvl="1" indent="0">
              <a:buNone/>
            </a:pPr>
            <a:r>
              <a:rPr lang="en-US" i="1" dirty="0" err="1"/>
              <a:t>theMatrix</a:t>
            </a:r>
            <a:r>
              <a:rPr lang="en-US" i="1" dirty="0"/>
              <a:t>[1][2];	</a:t>
            </a:r>
            <a:r>
              <a:rPr lang="en-US" i="1" dirty="0">
                <a:sym typeface="Wingdings" panose="05000000000000000000" pitchFamily="2" charset="2"/>
              </a:rPr>
              <a:t>	// equivalence to </a:t>
            </a:r>
            <a:r>
              <a:rPr lang="en-US" i="1" dirty="0" err="1"/>
              <a:t>theMatrix</a:t>
            </a:r>
            <a:r>
              <a:rPr lang="en-US" i="1" dirty="0"/>
              <a:t>[1].z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GLSL Syntax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Structure:</a:t>
            </a:r>
          </a:p>
          <a:p>
            <a:pPr lvl="1"/>
            <a:r>
              <a:rPr lang="en-US" dirty="0"/>
              <a:t>Similar syntax as C</a:t>
            </a:r>
          </a:p>
          <a:p>
            <a:pPr marL="457200" lvl="1" indent="0">
              <a:buNone/>
            </a:pPr>
            <a:r>
              <a:rPr lang="en-US" dirty="0"/>
              <a:t>struct </a:t>
            </a:r>
            <a:r>
              <a:rPr lang="en-US" dirty="0" err="1"/>
              <a:t>dirlight</a:t>
            </a:r>
            <a:r>
              <a:rPr lang="en-US" dirty="0"/>
              <a:t> {</a:t>
            </a:r>
          </a:p>
          <a:p>
            <a:pPr marL="457200" lvl="1" indent="0">
              <a:buNone/>
            </a:pPr>
            <a:r>
              <a:rPr lang="en-US" dirty="0"/>
              <a:t>	 vec3 direction;</a:t>
            </a:r>
          </a:p>
          <a:p>
            <a:pPr marL="457200" lvl="1" indent="0">
              <a:buNone/>
            </a:pPr>
            <a:r>
              <a:rPr lang="en-US" dirty="0"/>
              <a:t>       vec3 color;</a:t>
            </a:r>
          </a:p>
          <a:p>
            <a:pPr marL="457200" lvl="1" indent="0">
              <a:buNone/>
            </a:pPr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GLSL Syntax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Array:</a:t>
            </a:r>
          </a:p>
          <a:p>
            <a:pPr lvl="1"/>
            <a:r>
              <a:rPr lang="en-US" dirty="0"/>
              <a:t>Similar syntax as C</a:t>
            </a:r>
          </a:p>
          <a:p>
            <a:pPr lvl="1"/>
            <a:r>
              <a:rPr lang="en-US" dirty="0"/>
              <a:t>Must have pre-defined number of elements</a:t>
            </a:r>
          </a:p>
          <a:p>
            <a:pPr lvl="1"/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float </a:t>
            </a:r>
            <a:r>
              <a:rPr lang="en-US" dirty="0" err="1"/>
              <a:t>arrayFloat</a:t>
            </a:r>
            <a:r>
              <a:rPr lang="en-US" dirty="0"/>
              <a:t>[12];</a:t>
            </a:r>
          </a:p>
          <a:p>
            <a:pPr marL="457200" lvl="1" indent="0">
              <a:buNone/>
            </a:pPr>
            <a:r>
              <a:rPr lang="en-US" dirty="0" err="1"/>
              <a:t>arrayFloat.length</a:t>
            </a:r>
            <a:r>
              <a:rPr lang="en-US" dirty="0"/>
              <a:t>() 		// returns 12</a:t>
            </a:r>
          </a:p>
        </p:txBody>
      </p:sp>
    </p:spTree>
    <p:extLst>
      <p:ext uri="{BB962C8B-B14F-4D97-AF65-F5344CB8AC3E}">
        <p14:creationId xmlns:p14="http://schemas.microsoft.com/office/powerpoint/2010/main" val="2131121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12A390-9643-D44B-7F08-54BD186E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6B482F-F987-8EAF-82C4-E4C894FC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CDDAC-E94D-288E-8C35-6E43B60FBB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Same syntax as C</a:t>
            </a:r>
          </a:p>
          <a:p>
            <a:pPr lvl="1"/>
            <a:r>
              <a:rPr lang="en-US" dirty="0"/>
              <a:t>If else, for, while, do while, etc.</a:t>
            </a:r>
          </a:p>
          <a:p>
            <a:pPr lvl="1"/>
            <a:endParaRPr lang="en-US" dirty="0"/>
          </a:p>
          <a:p>
            <a:r>
              <a:rPr lang="en-US" dirty="0"/>
              <a:t>Function:</a:t>
            </a:r>
          </a:p>
          <a:p>
            <a:pPr lvl="1"/>
            <a:r>
              <a:rPr lang="en-US" dirty="0"/>
              <a:t>The main function: void main(){/* … */}</a:t>
            </a:r>
          </a:p>
          <a:p>
            <a:pPr lvl="1"/>
            <a:r>
              <a:rPr lang="en-US" dirty="0"/>
              <a:t>Custom function defined similar to C style</a:t>
            </a:r>
          </a:p>
          <a:p>
            <a:pPr lvl="1"/>
            <a:r>
              <a:rPr lang="en-US" dirty="0"/>
              <a:t>Can be overloaded</a:t>
            </a:r>
          </a:p>
          <a:p>
            <a:pPr lvl="1"/>
            <a:r>
              <a:rPr lang="en-US" dirty="0"/>
              <a:t>Can use recursion </a:t>
            </a:r>
          </a:p>
        </p:txBody>
      </p:sp>
    </p:spTree>
    <p:extLst>
      <p:ext uri="{BB962C8B-B14F-4D97-AF65-F5344CB8AC3E}">
        <p14:creationId xmlns:p14="http://schemas.microsoft.com/office/powerpoint/2010/main" val="3629038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92C58C-CB57-A433-C26E-B49F7C56C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545DBD-E66B-7D9E-A743-484B5F74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05CA4-72DB-B363-BEBD-8CAC1180CE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Example for a function: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7F940B-7F33-DA58-A4AB-70420B3C4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87" y="1762124"/>
            <a:ext cx="60674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336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9F5668-08BE-753C-6AE9-301DE931C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9155FE-8B90-E0D6-214E-9AEB4B2A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Subrountine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9A509-E87D-B41C-F5BF-A6C92D630B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 mechanism for Shader programs to be configurable without the need of re-compiling</a:t>
            </a:r>
          </a:p>
          <a:p>
            <a:r>
              <a:rPr lang="en-US" dirty="0"/>
              <a:t>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EA5211-209F-5E6E-50BA-D60EA2029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2662237"/>
            <a:ext cx="653415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588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0D5ECE-0B01-420D-87D3-070875FE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E48357-835D-74F9-C64F-2D7D235D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C0E58-604D-C7D9-9B48-2E1F5FF1DE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OpenGL allows creating variables which are unrelated to vertices</a:t>
            </a:r>
          </a:p>
          <a:p>
            <a:pPr lvl="1"/>
            <a:r>
              <a:rPr lang="en-US" dirty="0"/>
              <a:t>Can be used to apply effect (lighting, color, …) to shape</a:t>
            </a:r>
          </a:p>
          <a:p>
            <a:r>
              <a:rPr lang="en-US" dirty="0"/>
              <a:t>There are two categories of variables in GLSL:</a:t>
            </a:r>
          </a:p>
          <a:p>
            <a:pPr lvl="1"/>
            <a:r>
              <a:rPr lang="en-US" dirty="0"/>
              <a:t>Uniform</a:t>
            </a:r>
          </a:p>
          <a:p>
            <a:pPr lvl="2"/>
            <a:r>
              <a:rPr lang="en-US" dirty="0"/>
              <a:t>A constant for all vertices in an OpenGL draw call. </a:t>
            </a:r>
          </a:p>
          <a:p>
            <a:pPr lvl="2"/>
            <a:r>
              <a:rPr lang="en-US" dirty="0"/>
              <a:t>Global variable whose values do not change for every vertex in an OpenGL draw call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Attribute</a:t>
            </a:r>
          </a:p>
          <a:p>
            <a:pPr lvl="2"/>
            <a:r>
              <a:rPr lang="en-US" dirty="0"/>
              <a:t>Specific for vertices (location, texture, ..)</a:t>
            </a:r>
          </a:p>
          <a:p>
            <a:pPr lvl="2"/>
            <a:r>
              <a:rPr lang="en-US" dirty="0"/>
              <a:t>To be introduced later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83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Uniform variable:</a:t>
            </a:r>
          </a:p>
          <a:p>
            <a:pPr lvl="1"/>
            <a:r>
              <a:rPr lang="en-US" dirty="0"/>
              <a:t>A global variable like in C style</a:t>
            </a:r>
          </a:p>
          <a:p>
            <a:pPr lvl="1"/>
            <a:r>
              <a:rPr lang="en-US" dirty="0"/>
              <a:t>Accessible with a unique name</a:t>
            </a:r>
          </a:p>
          <a:p>
            <a:pPr lvl="1"/>
            <a:r>
              <a:rPr lang="en-US" dirty="0"/>
              <a:t>Add uniform before data type (mat4, vec3, etc.)</a:t>
            </a:r>
          </a:p>
          <a:p>
            <a:pPr lvl="1"/>
            <a:r>
              <a:rPr lang="en-US" dirty="0"/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79BD4-5B9B-5898-9E17-BC3B331A3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864" y="3429000"/>
            <a:ext cx="4442374" cy="204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96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Uniform variable:</a:t>
            </a:r>
          </a:p>
          <a:p>
            <a:pPr lvl="1"/>
            <a:r>
              <a:rPr lang="en-US" dirty="0"/>
              <a:t>A uniform variable has a fixed location ID</a:t>
            </a:r>
          </a:p>
          <a:p>
            <a:pPr lvl="1"/>
            <a:r>
              <a:rPr lang="en-US" dirty="0"/>
              <a:t>Can find the variable ID with variable name: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Assign value to the variable using syntax: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88C0B64D-5F37-CE34-266D-D6B7379E837C}"/>
              </a:ext>
            </a:extLst>
          </p:cNvPr>
          <p:cNvGraphicFramePr>
            <a:graphicFrameLocks noGrp="1"/>
          </p:cNvGraphicFramePr>
          <p:nvPr/>
        </p:nvGraphicFramePr>
        <p:xfrm>
          <a:off x="1244997" y="2623848"/>
          <a:ext cx="7425847" cy="451739"/>
        </p:xfrm>
        <a:graphic>
          <a:graphicData uri="http://schemas.openxmlformats.org/drawingml/2006/table">
            <a:tbl>
              <a:tblPr firstRow="1" bandRow="1"/>
              <a:tblGrid>
                <a:gridCol w="7425847">
                  <a:extLst>
                    <a:ext uri="{9D8B030D-6E8A-4147-A177-3AD203B41FA5}">
                      <a16:colId xmlns:a16="http://schemas.microsoft.com/office/drawing/2014/main" val="3936848975"/>
                    </a:ext>
                  </a:extLst>
                </a:gridCol>
              </a:tblGrid>
              <a:tr h="451739">
                <a:tc>
                  <a:txBody>
                    <a:bodyPr/>
                    <a:lstStyle/>
                    <a:p>
                      <a:pPr algn="ctr"/>
                      <a:r>
                        <a:rPr kumimoji="0" lang="en-US" sz="1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location = </a:t>
                      </a:r>
                      <a:r>
                        <a:rPr kumimoji="0" lang="en-US" sz="1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glGetUniformLocation</a:t>
                      </a:r>
                      <a:r>
                        <a:rPr kumimoji="0" lang="en-US" sz="1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sz="1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shaderID</a:t>
                      </a:r>
                      <a:r>
                        <a:rPr kumimoji="0" lang="en-US" sz="1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"</a:t>
                      </a:r>
                      <a:r>
                        <a:rPr kumimoji="0" lang="en-US" sz="1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uniformVarName</a:t>
                      </a:r>
                      <a:r>
                        <a:rPr kumimoji="0" lang="en-US" sz="1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");</a:t>
                      </a:r>
                      <a:endParaRPr lang="en-US" sz="2200" dirty="0"/>
                    </a:p>
                  </a:txBody>
                  <a:tcPr marL="111388" marR="111388" marT="55694" marB="55694"/>
                </a:tc>
                <a:extLst>
                  <a:ext uri="{0D108BD9-81ED-4DB2-BD59-A6C34878D82A}">
                    <a16:rowId xmlns:a16="http://schemas.microsoft.com/office/drawing/2014/main" val="700254449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792CE01B-CF68-B4BF-1EB0-AAA937229F7A}"/>
              </a:ext>
            </a:extLst>
          </p:cNvPr>
          <p:cNvGraphicFramePr>
            <a:graphicFrameLocks noGrp="1"/>
          </p:cNvGraphicFramePr>
          <p:nvPr/>
        </p:nvGraphicFramePr>
        <p:xfrm>
          <a:off x="1244996" y="3630458"/>
          <a:ext cx="7425847" cy="451739"/>
        </p:xfrm>
        <a:graphic>
          <a:graphicData uri="http://schemas.openxmlformats.org/drawingml/2006/table">
            <a:tbl>
              <a:tblPr firstRow="1" bandRow="1"/>
              <a:tblGrid>
                <a:gridCol w="7425847">
                  <a:extLst>
                    <a:ext uri="{9D8B030D-6E8A-4147-A177-3AD203B41FA5}">
                      <a16:colId xmlns:a16="http://schemas.microsoft.com/office/drawing/2014/main" val="3257917854"/>
                    </a:ext>
                  </a:extLst>
                </a:gridCol>
              </a:tblGrid>
              <a:tr h="451739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glUniform1f(location, 3.5f);</a:t>
                      </a:r>
                    </a:p>
                  </a:txBody>
                  <a:tcPr marL="111388" marR="111388" marT="55694" marB="55694"/>
                </a:tc>
                <a:extLst>
                  <a:ext uri="{0D108BD9-81ED-4DB2-BD59-A6C34878D82A}">
                    <a16:rowId xmlns:a16="http://schemas.microsoft.com/office/drawing/2014/main" val="1014581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464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Uniform variable:</a:t>
            </a:r>
          </a:p>
          <a:p>
            <a:pPr lvl="1"/>
            <a:r>
              <a:rPr lang="en-US" dirty="0"/>
              <a:t>Syntax for common type: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C30AD1-8834-A453-8047-F480FB6F4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784123"/>
              </p:ext>
            </p:extLst>
          </p:nvPr>
        </p:nvGraphicFramePr>
        <p:xfrm>
          <a:off x="361950" y="2188323"/>
          <a:ext cx="8546973" cy="2977100"/>
        </p:xfrm>
        <a:graphic>
          <a:graphicData uri="http://schemas.openxmlformats.org/drawingml/2006/table">
            <a:tbl>
              <a:tblPr firstRow="1" bandRow="1"/>
              <a:tblGrid>
                <a:gridCol w="738806">
                  <a:extLst>
                    <a:ext uri="{9D8B030D-6E8A-4147-A177-3AD203B41FA5}">
                      <a16:colId xmlns:a16="http://schemas.microsoft.com/office/drawing/2014/main" val="1080868528"/>
                    </a:ext>
                  </a:extLst>
                </a:gridCol>
                <a:gridCol w="2693590">
                  <a:extLst>
                    <a:ext uri="{9D8B030D-6E8A-4147-A177-3AD203B41FA5}">
                      <a16:colId xmlns:a16="http://schemas.microsoft.com/office/drawing/2014/main" val="669931169"/>
                    </a:ext>
                  </a:extLst>
                </a:gridCol>
                <a:gridCol w="5114577">
                  <a:extLst>
                    <a:ext uri="{9D8B030D-6E8A-4147-A177-3AD203B41FA5}">
                      <a16:colId xmlns:a16="http://schemas.microsoft.com/office/drawing/2014/main" val="3718265033"/>
                    </a:ext>
                  </a:extLst>
                </a:gridCol>
              </a:tblGrid>
              <a:tr h="425300">
                <a:tc>
                  <a:txBody>
                    <a:bodyPr/>
                    <a:lstStyle/>
                    <a:p>
                      <a:r>
                        <a:rPr lang="en-US" sz="2000" b="1" dirty="0"/>
                        <a:t>STT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Tên</a:t>
                      </a:r>
                      <a:endParaRPr lang="en-US" sz="2000" b="1" dirty="0"/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Mô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tả</a:t>
                      </a:r>
                      <a:endParaRPr lang="en-US" sz="2000" b="1" dirty="0"/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393656"/>
                  </a:ext>
                </a:extLst>
              </a:tr>
              <a:tr h="425300">
                <a:tc>
                  <a:txBody>
                    <a:bodyPr/>
                    <a:lstStyle/>
                    <a:p>
                      <a:r>
                        <a:rPr lang="en-US" sz="2000"/>
                        <a:t>1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glUniform1f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Một giá trị float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305325"/>
                  </a:ext>
                </a:extLst>
              </a:tr>
              <a:tr h="425300">
                <a:tc>
                  <a:txBody>
                    <a:bodyPr/>
                    <a:lstStyle/>
                    <a:p>
                      <a:r>
                        <a:rPr lang="en-US" sz="2000"/>
                        <a:t>2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glUniform1i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Một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giá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trị</a:t>
                      </a:r>
                      <a:r>
                        <a:rPr lang="en-US" sz="2000" dirty="0"/>
                        <a:t> integer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757550"/>
                  </a:ext>
                </a:extLst>
              </a:tr>
              <a:tr h="425300">
                <a:tc>
                  <a:txBody>
                    <a:bodyPr/>
                    <a:lstStyle/>
                    <a:p>
                      <a:r>
                        <a:rPr lang="en-US" sz="2000"/>
                        <a:t>3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/>
                        <a:t>glUniform4f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Vector4 </a:t>
                      </a:r>
                      <a:r>
                        <a:rPr lang="en-US" sz="2000" dirty="0" err="1"/>
                        <a:t>của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các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giá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trị</a:t>
                      </a:r>
                      <a:r>
                        <a:rPr lang="en-US" sz="2000" dirty="0"/>
                        <a:t> float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927326"/>
                  </a:ext>
                </a:extLst>
              </a:tr>
              <a:tr h="425300"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/>
                        <a:t>glUniform4fv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Vector4 </a:t>
                      </a:r>
                      <a:r>
                        <a:rPr lang="en-US" sz="2000" dirty="0" err="1"/>
                        <a:t>của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các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giá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trị</a:t>
                      </a:r>
                      <a:r>
                        <a:rPr lang="en-US" sz="2000" dirty="0"/>
                        <a:t> float, </a:t>
                      </a:r>
                      <a:r>
                        <a:rPr lang="en-US" sz="2000" dirty="0" err="1"/>
                        <a:t>sử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dụng</a:t>
                      </a:r>
                      <a:r>
                        <a:rPr lang="en-US" sz="2000" dirty="0"/>
                        <a:t> con </a:t>
                      </a:r>
                      <a:r>
                        <a:rPr lang="en-US" sz="2000" dirty="0" err="1"/>
                        <a:t>trỏ</a:t>
                      </a:r>
                      <a:endParaRPr lang="en-US" sz="2000" dirty="0"/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076796"/>
                  </a:ext>
                </a:extLst>
              </a:tr>
              <a:tr h="425300"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/>
                        <a:t>glUniformMatrix4f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Matrix4 </a:t>
                      </a:r>
                      <a:r>
                        <a:rPr lang="en-US" sz="2000" dirty="0" err="1"/>
                        <a:t>của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các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giá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trị</a:t>
                      </a:r>
                      <a:r>
                        <a:rPr lang="en-US" sz="2000" dirty="0"/>
                        <a:t> float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546456"/>
                  </a:ext>
                </a:extLst>
              </a:tr>
              <a:tr h="425300"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/>
                        <a:t>glUniformMatrix4fv</a:t>
                      </a:r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Matrix4 </a:t>
                      </a:r>
                      <a:r>
                        <a:rPr lang="en-US" sz="2000" dirty="0" err="1"/>
                        <a:t>của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các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giá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trị</a:t>
                      </a:r>
                      <a:r>
                        <a:rPr lang="en-US" sz="2000" dirty="0"/>
                        <a:t> float, </a:t>
                      </a:r>
                      <a:r>
                        <a:rPr lang="en-US" sz="2000" dirty="0" err="1"/>
                        <a:t>sử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dụng</a:t>
                      </a:r>
                      <a:r>
                        <a:rPr lang="en-US" sz="2000" dirty="0"/>
                        <a:t> con </a:t>
                      </a:r>
                      <a:r>
                        <a:rPr lang="en-US" sz="2000" dirty="0" err="1"/>
                        <a:t>trỏ</a:t>
                      </a:r>
                      <a:endParaRPr lang="en-US" sz="2000" dirty="0"/>
                    </a:p>
                  </a:txBody>
                  <a:tcPr marL="108147" marR="108147" marT="54074" marB="5407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250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349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9D3242-3B81-FFE7-B1B0-3646D211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3B418-62A6-A893-F027-6B0B1B02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68AD2-0F5F-C7FB-13F0-8A60C4A644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Allow communication between shaders </a:t>
            </a:r>
          </a:p>
          <a:p>
            <a:pPr lvl="1"/>
            <a:r>
              <a:rPr lang="en-US" dirty="0"/>
              <a:t>Vertex shader can communicate with fragment shader</a:t>
            </a:r>
          </a:p>
          <a:p>
            <a:pPr lvl="1"/>
            <a:r>
              <a:rPr lang="en-US" dirty="0"/>
              <a:t>Output of a shader will be copied to be input of a shader in later stage in rendering pipeline</a:t>
            </a:r>
          </a:p>
          <a:p>
            <a:r>
              <a:rPr lang="en-US" dirty="0"/>
              <a:t>Name-based matching</a:t>
            </a:r>
          </a:p>
          <a:p>
            <a:pPr lvl="1"/>
            <a:r>
              <a:rPr lang="en-US" dirty="0"/>
              <a:t>One mechanism to match output of a shader to input of the next one.</a:t>
            </a:r>
          </a:p>
          <a:p>
            <a:pPr lvl="1"/>
            <a:r>
              <a:rPr lang="en-US" dirty="0"/>
              <a:t>Simple to use but might create confusion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915C2A-1FF3-8F0A-22E2-17AA74D36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45" y="4533838"/>
            <a:ext cx="4172909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23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A2D474-E893-583C-84D7-0C68331A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61C4FD-A1D8-FDAE-EED9-20E914939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920AE-FB8C-34C4-5899-48FDE9352C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Block based matching</a:t>
            </a:r>
          </a:p>
          <a:p>
            <a:r>
              <a:rPr lang="en-US" dirty="0"/>
              <a:t>A block can be defined as follow: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A8CBA2-782D-1108-60AF-C0BFA86AF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639" y="2871275"/>
            <a:ext cx="4026621" cy="17968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983269-817F-F5E6-E351-82420E0A4F72}"/>
              </a:ext>
            </a:extLst>
          </p:cNvPr>
          <p:cNvSpPr txBox="1"/>
          <p:nvPr/>
        </p:nvSpPr>
        <p:spPr>
          <a:xfrm>
            <a:off x="1417782" y="2132904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75C7C1-2A46-C52D-B317-792A54EB7EE7}"/>
              </a:ext>
            </a:extLst>
          </p:cNvPr>
          <p:cNvSpPr txBox="1"/>
          <p:nvPr/>
        </p:nvSpPr>
        <p:spPr>
          <a:xfrm>
            <a:off x="3460062" y="2132904"/>
            <a:ext cx="1874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Block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915096-8668-A401-283E-8F88F440D43B}"/>
              </a:ext>
            </a:extLst>
          </p:cNvPr>
          <p:cNvSpPr txBox="1"/>
          <p:nvPr/>
        </p:nvSpPr>
        <p:spPr>
          <a:xfrm>
            <a:off x="2647606" y="5302739"/>
            <a:ext cx="22633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Block instance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7E82E5-424D-2B49-5DA1-F41771B10D7D}"/>
              </a:ext>
            </a:extLst>
          </p:cNvPr>
          <p:cNvSpPr txBox="1"/>
          <p:nvPr/>
        </p:nvSpPr>
        <p:spPr>
          <a:xfrm>
            <a:off x="6667562" y="3289629"/>
            <a:ext cx="2257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Block element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4AED15-2F61-7802-B001-B33BF7983B08}"/>
              </a:ext>
            </a:extLst>
          </p:cNvPr>
          <p:cNvCxnSpPr>
            <a:stCxn id="9" idx="2"/>
          </p:cNvCxnSpPr>
          <p:nvPr/>
        </p:nvCxnSpPr>
        <p:spPr>
          <a:xfrm>
            <a:off x="2032694" y="2656124"/>
            <a:ext cx="510481" cy="1442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CB5B4B-F375-7DAC-2F38-614E8868A933}"/>
              </a:ext>
            </a:extLst>
          </p:cNvPr>
          <p:cNvCxnSpPr>
            <a:cxnSpLocks/>
          </p:cNvCxnSpPr>
          <p:nvPr/>
        </p:nvCxnSpPr>
        <p:spPr>
          <a:xfrm flipH="1">
            <a:off x="3828756" y="2582717"/>
            <a:ext cx="606228" cy="2151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3EB553-35C4-D002-B9F5-91AFC2E3A765}"/>
              </a:ext>
            </a:extLst>
          </p:cNvPr>
          <p:cNvCxnSpPr>
            <a:cxnSpLocks/>
          </p:cNvCxnSpPr>
          <p:nvPr/>
        </p:nvCxnSpPr>
        <p:spPr>
          <a:xfrm flipH="1">
            <a:off x="4743450" y="3630459"/>
            <a:ext cx="192411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B06A3C-D625-7C73-6F88-869B09B7C979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3590925" y="4668171"/>
            <a:ext cx="188370" cy="6345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188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2A6DB7-1E14-C4C1-997D-11EFC101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82FE6A-46AE-58AE-D489-A9194CCA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4A815-3790-674F-6278-D279F0DDD1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5046662" cy="4931079"/>
          </a:xfrm>
        </p:spPr>
        <p:txBody>
          <a:bodyPr/>
          <a:lstStyle/>
          <a:p>
            <a:r>
              <a:rPr lang="en-US" dirty="0"/>
              <a:t>Access block element inside a shader function</a:t>
            </a:r>
          </a:p>
          <a:p>
            <a:pPr lvl="1"/>
            <a:r>
              <a:rPr lang="en-US" dirty="0"/>
              <a:t>Using block instance</a:t>
            </a:r>
          </a:p>
          <a:p>
            <a:pPr lvl="1"/>
            <a:endParaRPr lang="en-US" dirty="0"/>
          </a:p>
          <a:p>
            <a:r>
              <a:rPr lang="en-US" dirty="0"/>
              <a:t>Send block to next stage:</a:t>
            </a:r>
          </a:p>
          <a:p>
            <a:pPr lvl="1"/>
            <a:r>
              <a:rPr lang="en-US" dirty="0"/>
              <a:t>Name-based matching for </a:t>
            </a:r>
            <a:r>
              <a:rPr lang="en-US" b="1" dirty="0"/>
              <a:t>Block name</a:t>
            </a:r>
          </a:p>
          <a:p>
            <a:pPr lvl="1"/>
            <a:r>
              <a:rPr lang="en-US" dirty="0"/>
              <a:t>Example: block name </a:t>
            </a:r>
            <a:r>
              <a:rPr lang="en-US" i="1" dirty="0"/>
              <a:t>data</a:t>
            </a:r>
            <a:r>
              <a:rPr lang="en-US" dirty="0"/>
              <a:t> is matched from output of vertex shader to input of fragment shader</a:t>
            </a:r>
          </a:p>
          <a:p>
            <a:pPr lvl="1"/>
            <a:r>
              <a:rPr lang="en-US" dirty="0"/>
              <a:t>Block of the same name must have the same elements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277215-9ABE-4437-F625-7FCD1B109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5" y="2371725"/>
            <a:ext cx="5281612" cy="274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D8BDCA-8E81-C429-5D34-EDEF98108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900" y="2371725"/>
            <a:ext cx="34766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072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OpenGL Math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GLM</a:t>
            </a:r>
          </a:p>
          <a:p>
            <a:r>
              <a:rPr lang="en-US" dirty="0"/>
              <a:t>Transformation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208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7446F-0D5E-EC13-B56B-50DA0F45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FCC841-2BD9-FE07-52D0-AF3461C7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566A4-22E4-4611-ACB1-0A4A85D884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 math library for OpenGL</a:t>
            </a:r>
          </a:p>
          <a:p>
            <a:r>
              <a:rPr lang="en-US" dirty="0"/>
              <a:t>Facilitate matrix calculation (transformation such as: translation, rotation, etc.)</a:t>
            </a:r>
          </a:p>
          <a:p>
            <a:r>
              <a:rPr lang="en-US" dirty="0"/>
              <a:t>Use namespace </a:t>
            </a:r>
            <a:r>
              <a:rPr lang="en-US" dirty="0" err="1"/>
              <a:t>glm</a:t>
            </a:r>
            <a:endParaRPr lang="en-US" dirty="0"/>
          </a:p>
          <a:p>
            <a:r>
              <a:rPr lang="en-US" dirty="0"/>
              <a:t>Easy to use: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400" i="1" dirty="0" err="1"/>
              <a:t>glm</a:t>
            </a:r>
            <a:r>
              <a:rPr lang="en-US" sz="2400" i="1" dirty="0"/>
              <a:t>::mat4 trans: create an identity matrix 4x4</a:t>
            </a:r>
          </a:p>
          <a:p>
            <a:r>
              <a:rPr lang="en-US" sz="2400" i="1" dirty="0" err="1"/>
              <a:t>glm</a:t>
            </a:r>
            <a:r>
              <a:rPr lang="en-US" sz="2400" i="1" dirty="0"/>
              <a:t>::translate(trans, </a:t>
            </a:r>
            <a:r>
              <a:rPr lang="en-US" sz="2400" i="1" dirty="0" err="1"/>
              <a:t>offsetVector</a:t>
            </a:r>
            <a:r>
              <a:rPr lang="en-US" sz="2400" i="1" dirty="0"/>
              <a:t>): create a 4x4 matrix for translation given displacement in </a:t>
            </a:r>
            <a:r>
              <a:rPr lang="en-US" sz="2400" i="1" dirty="0" err="1"/>
              <a:t>offsetVector</a:t>
            </a:r>
            <a:endParaRPr lang="en-US" sz="2400" i="1" dirty="0"/>
          </a:p>
          <a:p>
            <a:pPr marL="0" indent="0">
              <a:buNone/>
            </a:pPr>
            <a:r>
              <a:rPr lang="en-US" sz="2400" i="1" dirty="0"/>
              <a:t>Note: </a:t>
            </a:r>
            <a:r>
              <a:rPr lang="en-US" sz="2400" i="1" dirty="0" err="1"/>
              <a:t>glm</a:t>
            </a:r>
            <a:r>
              <a:rPr lang="en-US" sz="2400" i="1" dirty="0"/>
              <a:t> uses matrix 4x4</a:t>
            </a:r>
            <a:endParaRPr lang="en-US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927AD3-50FE-B88E-C813-215449C9D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766" y="3492943"/>
            <a:ext cx="6114818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6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7446F-0D5E-EC13-B56B-50DA0F45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FCC841-2BD9-FE07-52D0-AF3461C7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566A4-22E4-4611-ACB1-0A4A85D884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Download GLM:</a:t>
            </a:r>
          </a:p>
          <a:p>
            <a:pPr lvl="1"/>
            <a:r>
              <a:rPr lang="en-US">
                <a:hlinkClick r:id="rId2"/>
              </a:rPr>
              <a:t>https://glm.g-truc.net/0.9.9/</a:t>
            </a:r>
            <a:endParaRPr lang="en-US"/>
          </a:p>
          <a:p>
            <a:pPr lvl="1"/>
            <a:endParaRPr lang="en-US"/>
          </a:p>
          <a:p>
            <a:r>
              <a:rPr lang="en-US"/>
              <a:t>Configure with visual studio:</a:t>
            </a:r>
          </a:p>
          <a:p>
            <a:pPr lvl="1"/>
            <a:r>
              <a:rPr lang="en-US"/>
              <a:t>Only header file needed</a:t>
            </a:r>
          </a:p>
          <a:p>
            <a:pPr lvl="1"/>
            <a:r>
              <a:rPr lang="en-US"/>
              <a:t>Project Properties &gt; C/C++ &gt; General &gt; Additional Include Directories</a:t>
            </a:r>
          </a:p>
          <a:p>
            <a:pPr lvl="2"/>
            <a:r>
              <a:rPr lang="en-US"/>
              <a:t>Add libs/glm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415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880EDB-764F-DDC4-E689-DF9318D64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A30F69-BF6E-03F9-F26F-34FF61A8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796CB-B0E5-BC9F-B80A-B2D0B398FE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Step to translate a triangle: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Declare a uniform 4x4 matrix variable named “model” in shader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Find a remember the model location ID when compile the shader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Create a translation matrix using </a:t>
            </a:r>
            <a:r>
              <a:rPr lang="en-US" dirty="0" err="1"/>
              <a:t>glm</a:t>
            </a:r>
            <a:r>
              <a:rPr lang="en-US" dirty="0"/>
              <a:t> in the main program.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Bind the model with the translation matrix </a:t>
            </a:r>
          </a:p>
        </p:txBody>
      </p:sp>
    </p:spTree>
    <p:extLst>
      <p:ext uri="{BB962C8B-B14F-4D97-AF65-F5344CB8AC3E}">
        <p14:creationId xmlns:p14="http://schemas.microsoft.com/office/powerpoint/2010/main" val="3199123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23E4F7-FE9D-8685-4E65-ECE40BD8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616FE-416E-3C7D-AF7D-14562C08B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79561-1214-E577-6773-3C7E86F2191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Step 1: create uniform model mat4 in shader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6EA093-5DE5-78AC-5E8F-4281B4142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" y="1729088"/>
            <a:ext cx="8582025" cy="364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29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23E4F7-FE9D-8685-4E65-ECE40BD8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616FE-416E-3C7D-AF7D-14562C08B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79561-1214-E577-6773-3C7E86F2191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Step 2: Find and remember location of model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dirty="0" err="1"/>
              <a:t>CompileShaders</a:t>
            </a:r>
            <a:r>
              <a:rPr lang="en-US" dirty="0"/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5185AD-70B4-54B7-6672-A2606949A9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50326"/>
          <a:stretch/>
        </p:blipFill>
        <p:spPr>
          <a:xfrm>
            <a:off x="557212" y="1409700"/>
            <a:ext cx="8029575" cy="1447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258753-DB6A-C177-20CF-5D8481810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4" y="3635969"/>
            <a:ext cx="8791575" cy="126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479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23E4F7-FE9D-8685-4E65-ECE40BD8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616FE-416E-3C7D-AF7D-14562C08B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79561-1214-E577-6773-3C7E86F2191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Step 3: Create translation matrix </a:t>
            </a:r>
            <a:r>
              <a:rPr lang="en-US"/>
              <a:t>using glm</a:t>
            </a:r>
          </a:p>
          <a:p>
            <a:pPr lvl="1"/>
            <a:r>
              <a:rPr lang="en-US"/>
              <a:t>Create an identity matrix 4x4</a:t>
            </a:r>
          </a:p>
          <a:p>
            <a:pPr lvl="1"/>
            <a:r>
              <a:rPr lang="en-US"/>
              <a:t>Use translate function from glm to create a translation matrix with offset is a 3d vector</a:t>
            </a:r>
          </a:p>
          <a:p>
            <a:pPr lvl="2"/>
            <a:r>
              <a:rPr lang="en-US"/>
              <a:t>In this case, the offset is (0.5f, 0.5f, 0.0f)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7A55B9-0229-28A5-AB6C-15D7244FC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70" y="3178162"/>
            <a:ext cx="7969660" cy="50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04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23E4F7-FE9D-8685-4E65-ECE40BD8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616FE-416E-3C7D-AF7D-14562C08B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79561-1214-E577-6773-3C7E86F2191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Step 4: Bind the translation matrix to the uniform model</a:t>
            </a:r>
          </a:p>
          <a:p>
            <a:pPr lvl="1"/>
            <a:r>
              <a:rPr lang="en-US"/>
              <a:t>glUniformMatrix4fv(): for matrix4x4 with pointer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Reference: </a:t>
            </a:r>
            <a:r>
              <a:rPr lang="en-US">
                <a:hlinkClick r:id="rId2"/>
              </a:rPr>
              <a:t>here</a:t>
            </a:r>
            <a:endParaRPr lang="en-US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06C32B-44F4-9761-5D50-6AE1821D4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7" y="3786916"/>
            <a:ext cx="8924783" cy="27407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AD7705-9887-41F5-BB3F-CAAE5AB4C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252263"/>
              </p:ext>
            </p:extLst>
          </p:nvPr>
        </p:nvGraphicFramePr>
        <p:xfrm>
          <a:off x="628648" y="2255520"/>
          <a:ext cx="7886700" cy="117348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3768102531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650863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verdana" panose="020B0604030504040204" pitchFamily="34" charset="0"/>
                        </a:rPr>
                        <a:t>void </a:t>
                      </a:r>
                      <a:r>
                        <a:rPr lang="en-US" b="1">
                          <a:effectLst/>
                          <a:latin typeface="verdana" panose="020B0604030504040204" pitchFamily="34" charset="0"/>
                        </a:rPr>
                        <a:t>glUniformMatrix4fv</a:t>
                      </a:r>
                      <a:r>
                        <a:rPr lang="en-US">
                          <a:effectLst/>
                          <a:latin typeface="verdana" panose="020B0604030504040204" pitchFamily="34" charset="0"/>
                        </a:rPr>
                        <a:t>(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verdana" panose="020B0604030504040204" pitchFamily="34" charset="0"/>
                        </a:rPr>
                        <a:t>GLint </a:t>
                      </a:r>
                      <a:r>
                        <a:rPr lang="en-US" i="1">
                          <a:effectLst/>
                          <a:latin typeface="verdana" panose="020B0604030504040204" pitchFamily="34" charset="0"/>
                        </a:rPr>
                        <a:t>location</a:t>
                      </a:r>
                      <a:r>
                        <a:rPr lang="en-US">
                          <a:effectLst/>
                          <a:latin typeface="verdana" panose="020B0604030504040204" pitchFamily="34" charset="0"/>
                        </a:rPr>
                        <a:t>,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633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verdana" panose="020B0604030504040204" pitchFamily="34" charset="0"/>
                        </a:rPr>
                        <a:t>GLsizei </a:t>
                      </a:r>
                      <a:r>
                        <a:rPr lang="en-US" i="1">
                          <a:effectLst/>
                          <a:latin typeface="verdana" panose="020B0604030504040204" pitchFamily="34" charset="0"/>
                        </a:rPr>
                        <a:t>count</a:t>
                      </a:r>
                      <a:r>
                        <a:rPr lang="en-US">
                          <a:effectLst/>
                          <a:latin typeface="verdana" panose="020B0604030504040204" pitchFamily="34" charset="0"/>
                        </a:rPr>
                        <a:t>,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468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verdana" panose="020B0604030504040204" pitchFamily="34" charset="0"/>
                        </a:rPr>
                        <a:t>GLboolean </a:t>
                      </a:r>
                      <a:r>
                        <a:rPr lang="en-US" i="1">
                          <a:effectLst/>
                          <a:latin typeface="verdana" panose="020B0604030504040204" pitchFamily="34" charset="0"/>
                        </a:rPr>
                        <a:t>transpose</a:t>
                      </a:r>
                      <a:r>
                        <a:rPr lang="en-US">
                          <a:effectLst/>
                          <a:latin typeface="verdana" panose="020B0604030504040204" pitchFamily="34" charset="0"/>
                        </a:rPr>
                        <a:t>,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538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verdana" panose="020B0604030504040204" pitchFamily="34" charset="0"/>
                        </a:rPr>
                        <a:t>const GLfloat *</a:t>
                      </a:r>
                      <a:r>
                        <a:rPr lang="en-US" i="1">
                          <a:effectLst/>
                          <a:latin typeface="verdana" panose="020B0604030504040204" pitchFamily="34" charset="0"/>
                        </a:rPr>
                        <a:t>value</a:t>
                      </a:r>
                      <a:r>
                        <a:rPr lang="en-US">
                          <a:effectLst/>
                          <a:latin typeface="verdana" panose="020B0604030504040204" pitchFamily="34" charset="0"/>
                        </a:rPr>
                        <a:t>);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320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5332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B574BB8-5B58-0EFC-D4D0-631836E10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Practice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8CD709-9E76-2A7F-426D-00665C2BD1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493B3F-96F1-0C76-8404-067A81102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590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BC7A2-A0FE-E6B3-99D9-559C1A4C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E9FBBE-B413-D54B-7965-B9919BFF8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AD61FE-BE77-57DA-EE1C-364BDBC815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Try to scale, rotate a triangle</a:t>
            </a:r>
          </a:p>
          <a:p>
            <a:r>
              <a:rPr lang="en-US"/>
              <a:t>Apply multiple transformations on a triangle</a:t>
            </a:r>
          </a:p>
        </p:txBody>
      </p:sp>
    </p:spTree>
    <p:extLst>
      <p:ext uri="{BB962C8B-B14F-4D97-AF65-F5344CB8AC3E}">
        <p14:creationId xmlns:p14="http://schemas.microsoft.com/office/powerpoint/2010/main" val="1383249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359</TotalTime>
  <Words>1011</Words>
  <Application>Microsoft Office PowerPoint</Application>
  <PresentationFormat>On-screen Show (4:3)</PresentationFormat>
  <Paragraphs>229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Lato</vt:lpstr>
      <vt:lpstr>Times New Roman</vt:lpstr>
      <vt:lpstr>Verdana</vt:lpstr>
      <vt:lpstr>Office Theme</vt:lpstr>
      <vt:lpstr>PowerPoint Presentation</vt:lpstr>
      <vt:lpstr>ET4730 Computer Graphics</vt:lpstr>
      <vt:lpstr>PowerPoint Presentation</vt:lpstr>
      <vt:lpstr>Content</vt:lpstr>
      <vt:lpstr>1. OpenGL Shader Language</vt:lpstr>
      <vt:lpstr>GLSL Syntax</vt:lpstr>
      <vt:lpstr>GLSL Syntax</vt:lpstr>
      <vt:lpstr>GLSL Syntax</vt:lpstr>
      <vt:lpstr>GLSL Syntax</vt:lpstr>
      <vt:lpstr>Statement</vt:lpstr>
      <vt:lpstr>Statement</vt:lpstr>
      <vt:lpstr>Subrountine</vt:lpstr>
      <vt:lpstr>Shader</vt:lpstr>
      <vt:lpstr>Shader</vt:lpstr>
      <vt:lpstr>Shader</vt:lpstr>
      <vt:lpstr>Shader</vt:lpstr>
      <vt:lpstr>Interfaces</vt:lpstr>
      <vt:lpstr>Interfaces</vt:lpstr>
      <vt:lpstr>Interfaces</vt:lpstr>
      <vt:lpstr>2. OpenGL Math Library</vt:lpstr>
      <vt:lpstr>GLM</vt:lpstr>
      <vt:lpstr>GLM</vt:lpstr>
      <vt:lpstr>Transformation</vt:lpstr>
      <vt:lpstr>Transformation</vt:lpstr>
      <vt:lpstr>Transformation</vt:lpstr>
      <vt:lpstr>Transformation</vt:lpstr>
      <vt:lpstr>Transformation</vt:lpstr>
      <vt:lpstr>3. Practice</vt:lpstr>
      <vt:lpstr>Practice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Dinh Van - Vien MICA</cp:lastModifiedBy>
  <cp:revision>26</cp:revision>
  <dcterms:created xsi:type="dcterms:W3CDTF">2021-05-28T04:32:29Z</dcterms:created>
  <dcterms:modified xsi:type="dcterms:W3CDTF">2023-04-17T08:02:10Z</dcterms:modified>
</cp:coreProperties>
</file>