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4"/>
  </p:sldMasterIdLst>
  <p:notesMasterIdLst>
    <p:notesMasterId r:id="rId38"/>
  </p:notesMasterIdLst>
  <p:handoutMasterIdLst>
    <p:handoutMasterId r:id="rId39"/>
  </p:handoutMasterIdLst>
  <p:sldIdLst>
    <p:sldId id="256" r:id="rId5"/>
    <p:sldId id="330" r:id="rId6"/>
    <p:sldId id="331" r:id="rId7"/>
    <p:sldId id="332" r:id="rId8"/>
    <p:sldId id="333" r:id="rId9"/>
    <p:sldId id="334" r:id="rId10"/>
    <p:sldId id="335" r:id="rId11"/>
    <p:sldId id="302" r:id="rId12"/>
    <p:sldId id="303" r:id="rId13"/>
    <p:sldId id="318" r:id="rId14"/>
    <p:sldId id="305" r:id="rId15"/>
    <p:sldId id="319" r:id="rId16"/>
    <p:sldId id="306" r:id="rId17"/>
    <p:sldId id="320" r:id="rId18"/>
    <p:sldId id="307" r:id="rId19"/>
    <p:sldId id="321" r:id="rId20"/>
    <p:sldId id="308" r:id="rId21"/>
    <p:sldId id="322" r:id="rId22"/>
    <p:sldId id="309" r:id="rId23"/>
    <p:sldId id="323" r:id="rId24"/>
    <p:sldId id="310" r:id="rId25"/>
    <p:sldId id="311" r:id="rId26"/>
    <p:sldId id="325" r:id="rId27"/>
    <p:sldId id="313" r:id="rId28"/>
    <p:sldId id="326" r:id="rId29"/>
    <p:sldId id="314" r:id="rId30"/>
    <p:sldId id="315" r:id="rId31"/>
    <p:sldId id="327" r:id="rId32"/>
    <p:sldId id="316" r:id="rId33"/>
    <p:sldId id="329" r:id="rId34"/>
    <p:sldId id="317" r:id="rId35"/>
    <p:sldId id="328" r:id="rId36"/>
    <p:sldId id="324" r:id="rId3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rgbClr val="000066"/>
        </a:solidFill>
        <a:latin typeface="Arial" charset="0"/>
        <a:ea typeface="ＭＳ Ｐゴシック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rgbClr val="000066"/>
        </a:solidFill>
        <a:latin typeface="Arial" charset="0"/>
        <a:ea typeface="ＭＳ Ｐゴシック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rgbClr val="000066"/>
        </a:solidFill>
        <a:latin typeface="Arial" charset="0"/>
        <a:ea typeface="ＭＳ Ｐゴシック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rgbClr val="000066"/>
        </a:solidFill>
        <a:latin typeface="Arial" charset="0"/>
        <a:ea typeface="ＭＳ Ｐゴシック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rgbClr val="000066"/>
        </a:solidFill>
        <a:latin typeface="Arial" charset="0"/>
        <a:ea typeface="ＭＳ Ｐゴシック"/>
        <a:cs typeface="Arial" charset="0"/>
      </a:defRPr>
    </a:lvl5pPr>
    <a:lvl6pPr marL="2286000" algn="l" defTabSz="914400" rtl="0" eaLnBrk="1" latinLnBrk="0" hangingPunct="1">
      <a:defRPr kern="1200">
        <a:solidFill>
          <a:srgbClr val="000066"/>
        </a:solidFill>
        <a:latin typeface="Arial" charset="0"/>
        <a:ea typeface="ＭＳ Ｐゴシック"/>
        <a:cs typeface="Arial" charset="0"/>
      </a:defRPr>
    </a:lvl6pPr>
    <a:lvl7pPr marL="2743200" algn="l" defTabSz="914400" rtl="0" eaLnBrk="1" latinLnBrk="0" hangingPunct="1">
      <a:defRPr kern="1200">
        <a:solidFill>
          <a:srgbClr val="000066"/>
        </a:solidFill>
        <a:latin typeface="Arial" charset="0"/>
        <a:ea typeface="ＭＳ Ｐゴシック"/>
        <a:cs typeface="Arial" charset="0"/>
      </a:defRPr>
    </a:lvl7pPr>
    <a:lvl8pPr marL="3200400" algn="l" defTabSz="914400" rtl="0" eaLnBrk="1" latinLnBrk="0" hangingPunct="1">
      <a:defRPr kern="1200">
        <a:solidFill>
          <a:srgbClr val="000066"/>
        </a:solidFill>
        <a:latin typeface="Arial" charset="0"/>
        <a:ea typeface="ＭＳ Ｐゴシック"/>
        <a:cs typeface="Arial" charset="0"/>
      </a:defRPr>
    </a:lvl8pPr>
    <a:lvl9pPr marL="3657600" algn="l" defTabSz="914400" rtl="0" eaLnBrk="1" latinLnBrk="0" hangingPunct="1">
      <a:defRPr kern="1200">
        <a:solidFill>
          <a:srgbClr val="000066"/>
        </a:solidFill>
        <a:latin typeface="Arial" charset="0"/>
        <a:ea typeface="ＭＳ Ｐゴシック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66"/>
    <a:srgbClr val="FBFBFB"/>
    <a:srgbClr val="EDD89B"/>
    <a:srgbClr val="CEB448"/>
    <a:srgbClr val="FFFF66"/>
    <a:srgbClr val="FFCC00"/>
    <a:srgbClr val="00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9" d="100"/>
          <a:sy n="109" d="100"/>
        </p:scale>
        <p:origin x="-90" y="-1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8" d="100"/>
          <a:sy n="58" d="100"/>
        </p:scale>
        <p:origin x="-1764" y="-6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solidFill>
                  <a:schemeClr val="tx1"/>
                </a:solidFill>
                <a:latin typeface="Times New Roman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Trade &amp; Industrial Education</a:t>
            </a:r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fld id="{EA755DEE-49E1-473F-87DC-076D4A7DA25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4893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solidFill>
                  <a:schemeClr val="tx1"/>
                </a:solidFill>
                <a:latin typeface="Times New Roman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Trade &amp; Industrial Education</a:t>
            </a:r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fld id="{A7A49E58-9F52-41B1-A29F-D2BD2C27592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91138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ゴシック" charset="0"/>
        <a:cs typeface="ＭＳ Ｐゴシック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ゴシック" charset="0"/>
        <a:cs typeface="ＭＳ Ｐゴシック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ゴシック" charset="0"/>
        <a:cs typeface="ＭＳ Ｐゴシック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ゴシック" charset="0"/>
        <a:cs typeface="ＭＳ Ｐゴシック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ゴシック" charset="0"/>
        <a:cs typeface="ＭＳ Ｐゴシック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latin typeface="Times New Roman" pitchFamily="18" charset="0"/>
                <a:ea typeface="ＭＳ Ｐゴシック" pitchFamily="34" charset="-128"/>
              </a:rPr>
              <a:t>Trade &amp; Industrial Education</a:t>
            </a:r>
          </a:p>
        </p:txBody>
      </p:sp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1492D3E-A0FD-4111-A17C-2128D6743E18}" type="slidenum">
              <a:rPr lang="en-US" smtClean="0">
                <a:ea typeface="ＭＳ Ｐゴシック" pitchFamily="34" charset="-128"/>
              </a:rPr>
              <a:pPr>
                <a:defRPr/>
              </a:pPr>
              <a:t>1</a:t>
            </a:fld>
            <a:endParaRPr lang="en-US" smtClean="0">
              <a:ea typeface="ＭＳ Ｐゴシック" pitchFamily="34" charset="-128"/>
            </a:endParaRPr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 smtClean="0">
              <a:latin typeface="Times New Roman" pitchFamily="18" charset="0"/>
              <a:ea typeface="ＭＳ Ｐゴシック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6"/>
          <p:cNvSpPr>
            <a:spLocks noGrp="1" noChangeArrowheads="1"/>
          </p:cNvSpPr>
          <p:nvPr>
            <p:ph type="ftr" sz="quarter" idx="4"/>
          </p:nvPr>
        </p:nvSpPr>
        <p:spPr>
          <a:ln w="9525"/>
          <a:extLst/>
        </p:spPr>
        <p:txBody>
          <a:bodyPr/>
          <a:lstStyle>
            <a:lvl1pPr eaLnBrk="0" hangingPunct="0">
              <a:defRPr>
                <a:solidFill>
                  <a:srgbClr val="000066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rgbClr val="000066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rgbClr val="000066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rgbClr val="000066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rgbClr val="000066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>
                <a:solidFill>
                  <a:schemeClr val="tx1"/>
                </a:solidFill>
                <a:latin typeface="Times New Roman" pitchFamily="18" charset="0"/>
              </a:rPr>
              <a:t>Trade &amp; Industrial Education</a:t>
            </a:r>
          </a:p>
        </p:txBody>
      </p:sp>
      <p:sp>
        <p:nvSpPr>
          <p:cNvPr id="23555" name="Rectangle 7"/>
          <p:cNvSpPr>
            <a:spLocks noGrp="1" noChangeArrowheads="1"/>
          </p:cNvSpPr>
          <p:nvPr>
            <p:ph type="sldNum" sz="quarter" idx="5"/>
          </p:nvPr>
        </p:nvSpPr>
        <p:spPr>
          <a:ln w="9525"/>
          <a:extLst/>
        </p:spPr>
        <p:txBody>
          <a:bodyPr/>
          <a:lstStyle>
            <a:lvl1pPr eaLnBrk="0" hangingPunct="0">
              <a:defRPr>
                <a:solidFill>
                  <a:srgbClr val="000066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rgbClr val="000066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rgbClr val="000066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rgbClr val="000066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rgbClr val="000066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9pPr>
          </a:lstStyle>
          <a:p>
            <a:pPr>
              <a:defRPr/>
            </a:pPr>
            <a:fld id="{111DE619-26EE-4542-B981-047C57FFCD13}" type="slidenum">
              <a:rPr lang="en-US">
                <a:solidFill>
                  <a:schemeClr val="tx1"/>
                </a:solidFill>
                <a:latin typeface="Times New Roman" pitchFamily="18" charset="0"/>
              </a:rPr>
              <a:pPr>
                <a:defRPr/>
              </a:pPr>
              <a:t>8</a:t>
            </a:fld>
            <a:endParaRPr lang="en-US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4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 smtClean="0">
              <a:latin typeface="Times New Roman" pitchFamily="18" charset="0"/>
              <a:ea typeface="ＭＳ Ｐゴシック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6"/>
          <p:cNvSpPr>
            <a:spLocks noGrp="1" noChangeArrowheads="1"/>
          </p:cNvSpPr>
          <p:nvPr>
            <p:ph type="ftr" sz="quarter" idx="4"/>
          </p:nvPr>
        </p:nvSpPr>
        <p:spPr>
          <a:ln w="9525"/>
          <a:extLst/>
        </p:spPr>
        <p:txBody>
          <a:bodyPr/>
          <a:lstStyle>
            <a:lvl1pPr eaLnBrk="0" hangingPunct="0">
              <a:defRPr>
                <a:solidFill>
                  <a:srgbClr val="000066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rgbClr val="000066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rgbClr val="000066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rgbClr val="000066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rgbClr val="000066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>
                <a:solidFill>
                  <a:schemeClr val="tx1"/>
                </a:solidFill>
                <a:latin typeface="Times New Roman" pitchFamily="18" charset="0"/>
              </a:rPr>
              <a:t>Trade &amp; Industrial Education</a:t>
            </a:r>
          </a:p>
        </p:txBody>
      </p:sp>
      <p:sp>
        <p:nvSpPr>
          <p:cNvPr id="24579" name="Rectangle 7"/>
          <p:cNvSpPr>
            <a:spLocks noGrp="1" noChangeArrowheads="1"/>
          </p:cNvSpPr>
          <p:nvPr>
            <p:ph type="sldNum" sz="quarter" idx="5"/>
          </p:nvPr>
        </p:nvSpPr>
        <p:spPr>
          <a:ln w="9525"/>
          <a:extLst/>
        </p:spPr>
        <p:txBody>
          <a:bodyPr/>
          <a:lstStyle>
            <a:lvl1pPr eaLnBrk="0" hangingPunct="0">
              <a:defRPr>
                <a:solidFill>
                  <a:srgbClr val="000066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rgbClr val="000066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rgbClr val="000066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rgbClr val="000066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rgbClr val="000066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9pPr>
          </a:lstStyle>
          <a:p>
            <a:pPr>
              <a:defRPr/>
            </a:pPr>
            <a:fld id="{01183D04-C037-4390-AE00-9018E869A3B1}" type="slidenum">
              <a:rPr lang="en-US">
                <a:solidFill>
                  <a:schemeClr val="tx1"/>
                </a:solidFill>
                <a:latin typeface="Times New Roman" pitchFamily="18" charset="0"/>
              </a:rPr>
              <a:pPr>
                <a:defRPr/>
              </a:pPr>
              <a:t>9</a:t>
            </a:fld>
            <a:endParaRPr lang="en-US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 smtClean="0">
              <a:latin typeface="Times New Roman" pitchFamily="18" charset="0"/>
              <a:ea typeface="ＭＳ Ｐゴシック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6"/>
          <p:cNvSpPr>
            <a:spLocks noGrp="1" noChangeArrowheads="1"/>
          </p:cNvSpPr>
          <p:nvPr>
            <p:ph type="ftr" sz="quarter" idx="4"/>
          </p:nvPr>
        </p:nvSpPr>
        <p:spPr>
          <a:ln w="9525"/>
          <a:extLst/>
        </p:spPr>
        <p:txBody>
          <a:bodyPr/>
          <a:lstStyle>
            <a:lvl1pPr eaLnBrk="0" hangingPunct="0">
              <a:defRPr>
                <a:solidFill>
                  <a:srgbClr val="000066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rgbClr val="000066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rgbClr val="000066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rgbClr val="000066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rgbClr val="000066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>
                <a:solidFill>
                  <a:schemeClr val="tx1"/>
                </a:solidFill>
                <a:latin typeface="Times New Roman" pitchFamily="18" charset="0"/>
              </a:rPr>
              <a:t>Trade &amp; Industrial Education</a:t>
            </a:r>
          </a:p>
        </p:txBody>
      </p:sp>
      <p:sp>
        <p:nvSpPr>
          <p:cNvPr id="26627" name="Rectangle 7"/>
          <p:cNvSpPr>
            <a:spLocks noGrp="1" noChangeArrowheads="1"/>
          </p:cNvSpPr>
          <p:nvPr>
            <p:ph type="sldNum" sz="quarter" idx="5"/>
          </p:nvPr>
        </p:nvSpPr>
        <p:spPr>
          <a:ln w="9525"/>
          <a:extLst/>
        </p:spPr>
        <p:txBody>
          <a:bodyPr/>
          <a:lstStyle>
            <a:lvl1pPr eaLnBrk="0" hangingPunct="0">
              <a:defRPr>
                <a:solidFill>
                  <a:srgbClr val="000066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rgbClr val="000066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rgbClr val="000066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rgbClr val="000066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rgbClr val="000066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9pPr>
          </a:lstStyle>
          <a:p>
            <a:pPr>
              <a:defRPr/>
            </a:pPr>
            <a:fld id="{92779624-71B4-4B15-89A7-38D970EE3545}" type="slidenum">
              <a:rPr lang="en-US">
                <a:solidFill>
                  <a:schemeClr val="tx1"/>
                </a:solidFill>
                <a:latin typeface="Times New Roman" pitchFamily="18" charset="0"/>
              </a:rPr>
              <a:pPr>
                <a:defRPr/>
              </a:pPr>
              <a:t>11</a:t>
            </a:fld>
            <a:endParaRPr lang="en-US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 smtClean="0">
              <a:latin typeface="Times New Roman" pitchFamily="18" charset="0"/>
              <a:ea typeface="ＭＳ Ｐゴシック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6"/>
          <p:cNvSpPr>
            <a:spLocks noGrp="1" noChangeArrowheads="1"/>
          </p:cNvSpPr>
          <p:nvPr>
            <p:ph type="ftr" sz="quarter" idx="4"/>
          </p:nvPr>
        </p:nvSpPr>
        <p:spPr>
          <a:ln w="9525"/>
          <a:extLst/>
        </p:spPr>
        <p:txBody>
          <a:bodyPr/>
          <a:lstStyle>
            <a:lvl1pPr eaLnBrk="0" hangingPunct="0">
              <a:defRPr>
                <a:solidFill>
                  <a:srgbClr val="000066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rgbClr val="000066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rgbClr val="000066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rgbClr val="000066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rgbClr val="000066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>
                <a:solidFill>
                  <a:schemeClr val="tx1"/>
                </a:solidFill>
                <a:latin typeface="Times New Roman" pitchFamily="18" charset="0"/>
              </a:rPr>
              <a:t>Trade &amp; Industrial Education</a:t>
            </a:r>
          </a:p>
        </p:txBody>
      </p:sp>
      <p:sp>
        <p:nvSpPr>
          <p:cNvPr id="27651" name="Rectangle 7"/>
          <p:cNvSpPr>
            <a:spLocks noGrp="1" noChangeArrowheads="1"/>
          </p:cNvSpPr>
          <p:nvPr>
            <p:ph type="sldNum" sz="quarter" idx="5"/>
          </p:nvPr>
        </p:nvSpPr>
        <p:spPr>
          <a:ln w="9525"/>
          <a:extLst/>
        </p:spPr>
        <p:txBody>
          <a:bodyPr/>
          <a:lstStyle>
            <a:lvl1pPr eaLnBrk="0" hangingPunct="0">
              <a:defRPr>
                <a:solidFill>
                  <a:srgbClr val="000066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rgbClr val="000066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rgbClr val="000066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rgbClr val="000066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rgbClr val="000066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9pPr>
          </a:lstStyle>
          <a:p>
            <a:pPr>
              <a:defRPr/>
            </a:pPr>
            <a:fld id="{90F220CB-E4E5-4130-8C73-494D9D853261}" type="slidenum">
              <a:rPr lang="en-US">
                <a:solidFill>
                  <a:schemeClr val="tx1"/>
                </a:solidFill>
                <a:latin typeface="Times New Roman" pitchFamily="18" charset="0"/>
              </a:rPr>
              <a:pPr>
                <a:defRPr/>
              </a:pPr>
              <a:t>13</a:t>
            </a:fld>
            <a:endParaRPr lang="en-US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 smtClean="0">
              <a:latin typeface="Times New Roman" pitchFamily="18" charset="0"/>
              <a:ea typeface="ＭＳ Ｐゴシック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6"/>
          <p:cNvSpPr>
            <a:spLocks noGrp="1" noChangeArrowheads="1"/>
          </p:cNvSpPr>
          <p:nvPr>
            <p:ph type="ftr" sz="quarter" idx="4"/>
          </p:nvPr>
        </p:nvSpPr>
        <p:spPr>
          <a:ln w="9525"/>
          <a:extLst/>
        </p:spPr>
        <p:txBody>
          <a:bodyPr/>
          <a:lstStyle>
            <a:lvl1pPr eaLnBrk="0" hangingPunct="0">
              <a:defRPr>
                <a:solidFill>
                  <a:srgbClr val="000066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rgbClr val="000066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rgbClr val="000066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rgbClr val="000066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rgbClr val="000066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>
                <a:solidFill>
                  <a:schemeClr val="tx1"/>
                </a:solidFill>
                <a:latin typeface="Times New Roman" pitchFamily="18" charset="0"/>
              </a:rPr>
              <a:t>Trade &amp; Industrial Education</a:t>
            </a:r>
          </a:p>
        </p:txBody>
      </p:sp>
      <p:sp>
        <p:nvSpPr>
          <p:cNvPr id="28675" name="Rectangle 7"/>
          <p:cNvSpPr>
            <a:spLocks noGrp="1" noChangeArrowheads="1"/>
          </p:cNvSpPr>
          <p:nvPr>
            <p:ph type="sldNum" sz="quarter" idx="5"/>
          </p:nvPr>
        </p:nvSpPr>
        <p:spPr>
          <a:ln w="9525"/>
          <a:extLst/>
        </p:spPr>
        <p:txBody>
          <a:bodyPr/>
          <a:lstStyle>
            <a:lvl1pPr eaLnBrk="0" hangingPunct="0">
              <a:defRPr>
                <a:solidFill>
                  <a:srgbClr val="000066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rgbClr val="000066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rgbClr val="000066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rgbClr val="000066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rgbClr val="000066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9pPr>
          </a:lstStyle>
          <a:p>
            <a:pPr>
              <a:defRPr/>
            </a:pPr>
            <a:fld id="{9C2BDBEB-9822-4882-A263-333ACB7F7CA9}" type="slidenum">
              <a:rPr lang="en-US">
                <a:solidFill>
                  <a:schemeClr val="tx1"/>
                </a:solidFill>
                <a:latin typeface="Times New Roman" pitchFamily="18" charset="0"/>
              </a:rPr>
              <a:pPr>
                <a:defRPr/>
              </a:pPr>
              <a:t>15</a:t>
            </a:fld>
            <a:endParaRPr lang="en-US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 smtClean="0">
              <a:latin typeface="Times New Roman" pitchFamily="18" charset="0"/>
              <a:ea typeface="ＭＳ Ｐゴシック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6"/>
          <p:cNvSpPr>
            <a:spLocks noGrp="1" noChangeArrowheads="1"/>
          </p:cNvSpPr>
          <p:nvPr>
            <p:ph type="ftr" sz="quarter" idx="4"/>
          </p:nvPr>
        </p:nvSpPr>
        <p:spPr>
          <a:ln w="9525"/>
          <a:extLst/>
        </p:spPr>
        <p:txBody>
          <a:bodyPr/>
          <a:lstStyle>
            <a:lvl1pPr eaLnBrk="0" hangingPunct="0">
              <a:defRPr>
                <a:solidFill>
                  <a:srgbClr val="000066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rgbClr val="000066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rgbClr val="000066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rgbClr val="000066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rgbClr val="000066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>
                <a:solidFill>
                  <a:schemeClr val="tx1"/>
                </a:solidFill>
                <a:latin typeface="Times New Roman" pitchFamily="18" charset="0"/>
              </a:rPr>
              <a:t>Trade &amp; Industrial Education</a:t>
            </a:r>
          </a:p>
        </p:txBody>
      </p:sp>
      <p:sp>
        <p:nvSpPr>
          <p:cNvPr id="29699" name="Rectangle 7"/>
          <p:cNvSpPr>
            <a:spLocks noGrp="1" noChangeArrowheads="1"/>
          </p:cNvSpPr>
          <p:nvPr>
            <p:ph type="sldNum" sz="quarter" idx="5"/>
          </p:nvPr>
        </p:nvSpPr>
        <p:spPr>
          <a:ln w="9525"/>
          <a:extLst/>
        </p:spPr>
        <p:txBody>
          <a:bodyPr/>
          <a:lstStyle>
            <a:lvl1pPr eaLnBrk="0" hangingPunct="0">
              <a:defRPr>
                <a:solidFill>
                  <a:srgbClr val="000066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rgbClr val="000066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rgbClr val="000066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rgbClr val="000066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rgbClr val="000066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9pPr>
          </a:lstStyle>
          <a:p>
            <a:pPr>
              <a:defRPr/>
            </a:pPr>
            <a:fld id="{EC730D32-5069-4AF4-ABC2-966F4E42026B}" type="slidenum">
              <a:rPr lang="en-US">
                <a:solidFill>
                  <a:schemeClr val="tx1"/>
                </a:solidFill>
                <a:latin typeface="Times New Roman" pitchFamily="18" charset="0"/>
              </a:rPr>
              <a:pPr>
                <a:defRPr/>
              </a:pPr>
              <a:t>17</a:t>
            </a:fld>
            <a:endParaRPr lang="en-US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 smtClean="0">
              <a:latin typeface="Times New Roman" pitchFamily="18" charset="0"/>
              <a:ea typeface="ＭＳ Ｐゴシック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6"/>
          <p:cNvSpPr>
            <a:spLocks noGrp="1" noChangeArrowheads="1"/>
          </p:cNvSpPr>
          <p:nvPr>
            <p:ph type="ftr" sz="quarter" idx="4"/>
          </p:nvPr>
        </p:nvSpPr>
        <p:spPr>
          <a:ln w="9525"/>
          <a:extLst/>
        </p:spPr>
        <p:txBody>
          <a:bodyPr/>
          <a:lstStyle>
            <a:lvl1pPr eaLnBrk="0" hangingPunct="0">
              <a:defRPr>
                <a:solidFill>
                  <a:srgbClr val="000066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rgbClr val="000066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rgbClr val="000066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rgbClr val="000066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rgbClr val="000066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>
                <a:solidFill>
                  <a:schemeClr val="tx1"/>
                </a:solidFill>
                <a:latin typeface="Times New Roman" pitchFamily="18" charset="0"/>
              </a:rPr>
              <a:t>Trade &amp; Industrial Education</a:t>
            </a:r>
          </a:p>
        </p:txBody>
      </p:sp>
      <p:sp>
        <p:nvSpPr>
          <p:cNvPr id="30723" name="Rectangle 7"/>
          <p:cNvSpPr>
            <a:spLocks noGrp="1" noChangeArrowheads="1"/>
          </p:cNvSpPr>
          <p:nvPr>
            <p:ph type="sldNum" sz="quarter" idx="5"/>
          </p:nvPr>
        </p:nvSpPr>
        <p:spPr>
          <a:ln w="9525"/>
          <a:extLst/>
        </p:spPr>
        <p:txBody>
          <a:bodyPr/>
          <a:lstStyle>
            <a:lvl1pPr eaLnBrk="0" hangingPunct="0">
              <a:defRPr>
                <a:solidFill>
                  <a:srgbClr val="000066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rgbClr val="000066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rgbClr val="000066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rgbClr val="000066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rgbClr val="000066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9pPr>
          </a:lstStyle>
          <a:p>
            <a:pPr>
              <a:defRPr/>
            </a:pPr>
            <a:fld id="{55EEB533-1065-49A3-B735-4962198CEC60}" type="slidenum">
              <a:rPr lang="en-US">
                <a:solidFill>
                  <a:schemeClr val="tx1"/>
                </a:solidFill>
                <a:latin typeface="Times New Roman" pitchFamily="18" charset="0"/>
              </a:rPr>
              <a:pPr>
                <a:defRPr/>
              </a:pPr>
              <a:t>19</a:t>
            </a:fld>
            <a:endParaRPr lang="en-US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 smtClean="0">
              <a:latin typeface="Times New Roman" pitchFamily="18" charset="0"/>
              <a:ea typeface="ＭＳ Ｐゴシック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6"/>
          <p:cNvSpPr>
            <a:spLocks noGrp="1" noChangeArrowheads="1"/>
          </p:cNvSpPr>
          <p:nvPr>
            <p:ph type="ftr" sz="quarter" idx="4"/>
          </p:nvPr>
        </p:nvSpPr>
        <p:spPr>
          <a:ln w="9525"/>
          <a:extLst/>
        </p:spPr>
        <p:txBody>
          <a:bodyPr/>
          <a:lstStyle>
            <a:lvl1pPr eaLnBrk="0" hangingPunct="0">
              <a:defRPr>
                <a:solidFill>
                  <a:srgbClr val="000066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rgbClr val="000066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rgbClr val="000066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rgbClr val="000066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rgbClr val="000066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>
                <a:solidFill>
                  <a:schemeClr val="tx1"/>
                </a:solidFill>
                <a:latin typeface="Times New Roman" pitchFamily="18" charset="0"/>
              </a:rPr>
              <a:t>Trade &amp; Industrial Education</a:t>
            </a:r>
          </a:p>
        </p:txBody>
      </p:sp>
      <p:sp>
        <p:nvSpPr>
          <p:cNvPr id="31747" name="Rectangle 7"/>
          <p:cNvSpPr>
            <a:spLocks noGrp="1" noChangeArrowheads="1"/>
          </p:cNvSpPr>
          <p:nvPr>
            <p:ph type="sldNum" sz="quarter" idx="5"/>
          </p:nvPr>
        </p:nvSpPr>
        <p:spPr>
          <a:ln w="9525"/>
          <a:extLst/>
        </p:spPr>
        <p:txBody>
          <a:bodyPr/>
          <a:lstStyle>
            <a:lvl1pPr eaLnBrk="0" hangingPunct="0">
              <a:defRPr>
                <a:solidFill>
                  <a:srgbClr val="000066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rgbClr val="000066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rgbClr val="000066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rgbClr val="000066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rgbClr val="000066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9pPr>
          </a:lstStyle>
          <a:p>
            <a:pPr>
              <a:defRPr/>
            </a:pPr>
            <a:fld id="{3F3FAB32-70E6-46B1-9059-1362C3943E11}" type="slidenum">
              <a:rPr lang="en-US">
                <a:solidFill>
                  <a:schemeClr val="tx1"/>
                </a:solidFill>
                <a:latin typeface="Times New Roman" pitchFamily="18" charset="0"/>
              </a:rPr>
              <a:pPr>
                <a:defRPr/>
              </a:pPr>
              <a:t>21</a:t>
            </a:fld>
            <a:endParaRPr lang="en-US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 smtClean="0">
              <a:latin typeface="Times New Roman" pitchFamily="18" charset="0"/>
              <a:ea typeface="ＭＳ Ｐゴシック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6"/>
          <p:cNvSpPr>
            <a:spLocks noGrp="1" noChangeArrowheads="1"/>
          </p:cNvSpPr>
          <p:nvPr>
            <p:ph type="ftr" sz="quarter" idx="4"/>
          </p:nvPr>
        </p:nvSpPr>
        <p:spPr>
          <a:ln w="9525"/>
          <a:extLst/>
        </p:spPr>
        <p:txBody>
          <a:bodyPr/>
          <a:lstStyle>
            <a:lvl1pPr eaLnBrk="0" hangingPunct="0">
              <a:defRPr>
                <a:solidFill>
                  <a:srgbClr val="000066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rgbClr val="000066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rgbClr val="000066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rgbClr val="000066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rgbClr val="000066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>
                <a:solidFill>
                  <a:schemeClr val="tx1"/>
                </a:solidFill>
                <a:latin typeface="Times New Roman" pitchFamily="18" charset="0"/>
              </a:rPr>
              <a:t>Trade &amp; Industrial Education</a:t>
            </a:r>
          </a:p>
        </p:txBody>
      </p:sp>
      <p:sp>
        <p:nvSpPr>
          <p:cNvPr id="32771" name="Rectangle 7"/>
          <p:cNvSpPr>
            <a:spLocks noGrp="1" noChangeArrowheads="1"/>
          </p:cNvSpPr>
          <p:nvPr>
            <p:ph type="sldNum" sz="quarter" idx="5"/>
          </p:nvPr>
        </p:nvSpPr>
        <p:spPr>
          <a:ln w="9525"/>
          <a:extLst/>
        </p:spPr>
        <p:txBody>
          <a:bodyPr/>
          <a:lstStyle>
            <a:lvl1pPr eaLnBrk="0" hangingPunct="0">
              <a:defRPr>
                <a:solidFill>
                  <a:srgbClr val="000066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rgbClr val="000066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rgbClr val="000066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rgbClr val="000066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rgbClr val="000066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9pPr>
          </a:lstStyle>
          <a:p>
            <a:pPr>
              <a:defRPr/>
            </a:pPr>
            <a:fld id="{2D5D12E8-33E7-41D1-B29E-13354332FA8F}" type="slidenum">
              <a:rPr lang="en-US">
                <a:solidFill>
                  <a:schemeClr val="tx1"/>
                </a:solidFill>
                <a:latin typeface="Times New Roman" pitchFamily="18" charset="0"/>
              </a:rPr>
              <a:pPr>
                <a:defRPr/>
              </a:pPr>
              <a:t>22</a:t>
            </a:fld>
            <a:endParaRPr lang="en-US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 smtClean="0">
              <a:latin typeface="Times New Roman" pitchFamily="18" charset="0"/>
              <a:ea typeface="ＭＳ Ｐゴシック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6"/>
          <p:cNvSpPr>
            <a:spLocks noGrp="1" noChangeArrowheads="1"/>
          </p:cNvSpPr>
          <p:nvPr>
            <p:ph type="ftr" sz="quarter" idx="4"/>
          </p:nvPr>
        </p:nvSpPr>
        <p:spPr>
          <a:ln w="9525"/>
          <a:extLst/>
        </p:spPr>
        <p:txBody>
          <a:bodyPr/>
          <a:lstStyle>
            <a:lvl1pPr eaLnBrk="0" hangingPunct="0">
              <a:defRPr>
                <a:solidFill>
                  <a:srgbClr val="000066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rgbClr val="000066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rgbClr val="000066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rgbClr val="000066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rgbClr val="000066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>
                <a:solidFill>
                  <a:schemeClr val="tx1"/>
                </a:solidFill>
                <a:latin typeface="Times New Roman" pitchFamily="18" charset="0"/>
              </a:rPr>
              <a:t>Trade &amp; Industrial Education</a:t>
            </a:r>
          </a:p>
        </p:txBody>
      </p:sp>
      <p:sp>
        <p:nvSpPr>
          <p:cNvPr id="34819" name="Rectangle 7"/>
          <p:cNvSpPr>
            <a:spLocks noGrp="1" noChangeArrowheads="1"/>
          </p:cNvSpPr>
          <p:nvPr>
            <p:ph type="sldNum" sz="quarter" idx="5"/>
          </p:nvPr>
        </p:nvSpPr>
        <p:spPr>
          <a:ln w="9525"/>
          <a:extLst/>
        </p:spPr>
        <p:txBody>
          <a:bodyPr/>
          <a:lstStyle>
            <a:lvl1pPr eaLnBrk="0" hangingPunct="0">
              <a:defRPr>
                <a:solidFill>
                  <a:srgbClr val="000066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rgbClr val="000066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rgbClr val="000066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rgbClr val="000066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rgbClr val="000066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9pPr>
          </a:lstStyle>
          <a:p>
            <a:pPr>
              <a:defRPr/>
            </a:pPr>
            <a:fld id="{4A059B43-5035-4F66-A19E-300FD385212D}" type="slidenum">
              <a:rPr lang="en-US">
                <a:solidFill>
                  <a:schemeClr val="tx1"/>
                </a:solidFill>
                <a:latin typeface="Times New Roman" pitchFamily="18" charset="0"/>
              </a:rPr>
              <a:pPr>
                <a:defRPr/>
              </a:pPr>
              <a:t>24</a:t>
            </a:fld>
            <a:endParaRPr lang="en-US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 smtClean="0">
              <a:latin typeface="Times New Roman" pitchFamily="18" charset="0"/>
              <a:ea typeface="ＭＳ Ｐゴシック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6"/>
          <p:cNvSpPr>
            <a:spLocks noGrp="1" noChangeArrowheads="1"/>
          </p:cNvSpPr>
          <p:nvPr>
            <p:ph type="ftr" sz="quarter" idx="4"/>
          </p:nvPr>
        </p:nvSpPr>
        <p:spPr>
          <a:ln w="9525"/>
          <a:extLst/>
        </p:spPr>
        <p:txBody>
          <a:bodyPr/>
          <a:lstStyle>
            <a:lvl1pPr eaLnBrk="0" hangingPunct="0">
              <a:defRPr>
                <a:solidFill>
                  <a:srgbClr val="000066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rgbClr val="000066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rgbClr val="000066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rgbClr val="000066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rgbClr val="000066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>
                <a:solidFill>
                  <a:schemeClr val="tx1"/>
                </a:solidFill>
                <a:latin typeface="Times New Roman" pitchFamily="18" charset="0"/>
              </a:rPr>
              <a:t>Trade &amp; Industrial Education</a:t>
            </a:r>
          </a:p>
        </p:txBody>
      </p:sp>
      <p:sp>
        <p:nvSpPr>
          <p:cNvPr id="35843" name="Rectangle 7"/>
          <p:cNvSpPr>
            <a:spLocks noGrp="1" noChangeArrowheads="1"/>
          </p:cNvSpPr>
          <p:nvPr>
            <p:ph type="sldNum" sz="quarter" idx="5"/>
          </p:nvPr>
        </p:nvSpPr>
        <p:spPr>
          <a:ln w="9525"/>
          <a:extLst/>
        </p:spPr>
        <p:txBody>
          <a:bodyPr/>
          <a:lstStyle>
            <a:lvl1pPr eaLnBrk="0" hangingPunct="0">
              <a:defRPr>
                <a:solidFill>
                  <a:srgbClr val="000066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rgbClr val="000066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rgbClr val="000066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rgbClr val="000066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rgbClr val="000066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9pPr>
          </a:lstStyle>
          <a:p>
            <a:pPr>
              <a:defRPr/>
            </a:pPr>
            <a:fld id="{BF0912A7-64EF-4504-9A8A-D8F8C426C87B}" type="slidenum">
              <a:rPr lang="en-US">
                <a:solidFill>
                  <a:schemeClr val="tx1"/>
                </a:solidFill>
                <a:latin typeface="Times New Roman" pitchFamily="18" charset="0"/>
              </a:rPr>
              <a:pPr>
                <a:defRPr/>
              </a:pPr>
              <a:t>26</a:t>
            </a:fld>
            <a:endParaRPr lang="en-US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 smtClean="0">
              <a:latin typeface="Times New Roman" pitchFamily="18" charset="0"/>
              <a:ea typeface="ＭＳ Ｐゴシック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6"/>
          <p:cNvSpPr>
            <a:spLocks noGrp="1" noChangeArrowheads="1"/>
          </p:cNvSpPr>
          <p:nvPr>
            <p:ph type="ftr" sz="quarter" idx="4"/>
          </p:nvPr>
        </p:nvSpPr>
        <p:spPr>
          <a:ln w="9525"/>
          <a:extLst/>
        </p:spPr>
        <p:txBody>
          <a:bodyPr/>
          <a:lstStyle>
            <a:lvl1pPr eaLnBrk="0" hangingPunct="0">
              <a:defRPr>
                <a:solidFill>
                  <a:srgbClr val="000066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rgbClr val="000066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rgbClr val="000066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rgbClr val="000066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rgbClr val="000066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>
                <a:solidFill>
                  <a:schemeClr val="tx1"/>
                </a:solidFill>
                <a:latin typeface="Times New Roman" pitchFamily="18" charset="0"/>
              </a:rPr>
              <a:t>Trade &amp; Industrial Education</a:t>
            </a:r>
          </a:p>
        </p:txBody>
      </p:sp>
      <p:sp>
        <p:nvSpPr>
          <p:cNvPr id="36867" name="Rectangle 7"/>
          <p:cNvSpPr>
            <a:spLocks noGrp="1" noChangeArrowheads="1"/>
          </p:cNvSpPr>
          <p:nvPr>
            <p:ph type="sldNum" sz="quarter" idx="5"/>
          </p:nvPr>
        </p:nvSpPr>
        <p:spPr>
          <a:ln w="9525"/>
          <a:extLst/>
        </p:spPr>
        <p:txBody>
          <a:bodyPr/>
          <a:lstStyle>
            <a:lvl1pPr eaLnBrk="0" hangingPunct="0">
              <a:defRPr>
                <a:solidFill>
                  <a:srgbClr val="000066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rgbClr val="000066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rgbClr val="000066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rgbClr val="000066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rgbClr val="000066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9pPr>
          </a:lstStyle>
          <a:p>
            <a:pPr>
              <a:defRPr/>
            </a:pPr>
            <a:fld id="{A83DF6B2-7137-4BB9-9E9C-66DB52748E00}" type="slidenum">
              <a:rPr lang="en-US">
                <a:solidFill>
                  <a:schemeClr val="tx1"/>
                </a:solidFill>
                <a:latin typeface="Times New Roman" pitchFamily="18" charset="0"/>
              </a:rPr>
              <a:pPr>
                <a:defRPr/>
              </a:pPr>
              <a:t>27</a:t>
            </a:fld>
            <a:endParaRPr lang="en-US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 smtClean="0">
              <a:latin typeface="Times New Roman" pitchFamily="18" charset="0"/>
              <a:ea typeface="ＭＳ Ｐゴシック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6"/>
          <p:cNvSpPr>
            <a:spLocks noGrp="1" noChangeArrowheads="1"/>
          </p:cNvSpPr>
          <p:nvPr>
            <p:ph type="ftr" sz="quarter" idx="4"/>
          </p:nvPr>
        </p:nvSpPr>
        <p:spPr>
          <a:ln w="9525"/>
          <a:extLst/>
        </p:spPr>
        <p:txBody>
          <a:bodyPr/>
          <a:lstStyle>
            <a:lvl1pPr eaLnBrk="0" hangingPunct="0">
              <a:defRPr>
                <a:solidFill>
                  <a:srgbClr val="000066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rgbClr val="000066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rgbClr val="000066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rgbClr val="000066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rgbClr val="000066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>
                <a:solidFill>
                  <a:schemeClr val="tx1"/>
                </a:solidFill>
                <a:latin typeface="Times New Roman" pitchFamily="18" charset="0"/>
              </a:rPr>
              <a:t>Trade &amp; Industrial Education</a:t>
            </a:r>
          </a:p>
        </p:txBody>
      </p:sp>
      <p:sp>
        <p:nvSpPr>
          <p:cNvPr id="37891" name="Rectangle 7"/>
          <p:cNvSpPr>
            <a:spLocks noGrp="1" noChangeArrowheads="1"/>
          </p:cNvSpPr>
          <p:nvPr>
            <p:ph type="sldNum" sz="quarter" idx="5"/>
          </p:nvPr>
        </p:nvSpPr>
        <p:spPr>
          <a:ln w="9525"/>
          <a:extLst/>
        </p:spPr>
        <p:txBody>
          <a:bodyPr/>
          <a:lstStyle>
            <a:lvl1pPr eaLnBrk="0" hangingPunct="0">
              <a:defRPr>
                <a:solidFill>
                  <a:srgbClr val="000066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rgbClr val="000066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rgbClr val="000066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rgbClr val="000066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rgbClr val="000066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9pPr>
          </a:lstStyle>
          <a:p>
            <a:pPr>
              <a:defRPr/>
            </a:pPr>
            <a:fld id="{19E4D789-8BED-4C58-8994-2153078A58C5}" type="slidenum">
              <a:rPr lang="en-US">
                <a:solidFill>
                  <a:schemeClr val="tx1"/>
                </a:solidFill>
                <a:latin typeface="Times New Roman" pitchFamily="18" charset="0"/>
              </a:rPr>
              <a:pPr>
                <a:defRPr/>
              </a:pPr>
              <a:t>29</a:t>
            </a:fld>
            <a:endParaRPr lang="en-US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 smtClean="0">
              <a:latin typeface="Times New Roman" pitchFamily="18" charset="0"/>
              <a:ea typeface="ＭＳ Ｐゴシック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6"/>
          <p:cNvSpPr>
            <a:spLocks noGrp="1" noChangeArrowheads="1"/>
          </p:cNvSpPr>
          <p:nvPr>
            <p:ph type="ftr" sz="quarter" idx="4"/>
          </p:nvPr>
        </p:nvSpPr>
        <p:spPr>
          <a:ln w="9525"/>
          <a:extLst/>
        </p:spPr>
        <p:txBody>
          <a:bodyPr/>
          <a:lstStyle>
            <a:lvl1pPr eaLnBrk="0" hangingPunct="0">
              <a:defRPr>
                <a:solidFill>
                  <a:srgbClr val="000066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rgbClr val="000066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rgbClr val="000066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rgbClr val="000066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rgbClr val="000066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>
                <a:solidFill>
                  <a:schemeClr val="tx1"/>
                </a:solidFill>
                <a:latin typeface="Times New Roman" pitchFamily="18" charset="0"/>
              </a:rPr>
              <a:t>Trade &amp; Industrial Education</a:t>
            </a:r>
          </a:p>
        </p:txBody>
      </p:sp>
      <p:sp>
        <p:nvSpPr>
          <p:cNvPr id="38915" name="Rectangle 7"/>
          <p:cNvSpPr>
            <a:spLocks noGrp="1" noChangeArrowheads="1"/>
          </p:cNvSpPr>
          <p:nvPr>
            <p:ph type="sldNum" sz="quarter" idx="5"/>
          </p:nvPr>
        </p:nvSpPr>
        <p:spPr>
          <a:ln w="9525"/>
          <a:extLst/>
        </p:spPr>
        <p:txBody>
          <a:bodyPr/>
          <a:lstStyle>
            <a:lvl1pPr eaLnBrk="0" hangingPunct="0">
              <a:defRPr>
                <a:solidFill>
                  <a:srgbClr val="000066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rgbClr val="000066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rgbClr val="000066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rgbClr val="000066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rgbClr val="000066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9pPr>
          </a:lstStyle>
          <a:p>
            <a:pPr>
              <a:defRPr/>
            </a:pPr>
            <a:fld id="{F8841866-2BCC-4772-A229-9EB86412AA0C}" type="slidenum">
              <a:rPr lang="en-US">
                <a:solidFill>
                  <a:schemeClr val="tx1"/>
                </a:solidFill>
                <a:latin typeface="Times New Roman" pitchFamily="18" charset="0"/>
              </a:rPr>
              <a:pPr>
                <a:defRPr/>
              </a:pPr>
              <a:t>31</a:t>
            </a:fld>
            <a:endParaRPr lang="en-US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 smtClean="0">
              <a:latin typeface="Times New Roman" pitchFamily="18" charset="0"/>
              <a:ea typeface="ＭＳ Ｐゴシック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40"/>
          <p:cNvSpPr>
            <a:spLocks noChangeShapeType="1"/>
          </p:cNvSpPr>
          <p:nvPr/>
        </p:nvSpPr>
        <p:spPr bwMode="auto">
          <a:xfrm>
            <a:off x="533400" y="2819400"/>
            <a:ext cx="80010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latin typeface="Arial" pitchFamily="34" charset="0"/>
              <a:ea typeface="ＭＳ Ｐゴシック" charset="-128"/>
              <a:cs typeface="+mn-cs"/>
            </a:endParaRPr>
          </a:p>
        </p:txBody>
      </p:sp>
      <p:pic>
        <p:nvPicPr>
          <p:cNvPr id="5" name="Picture 9" descr="ARTS_SMcopy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54613" y="228600"/>
            <a:ext cx="3379787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403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533400" y="1600200"/>
            <a:ext cx="8001000" cy="1000125"/>
          </a:xfrm>
        </p:spPr>
        <p:txBody>
          <a:bodyPr/>
          <a:lstStyle>
            <a:lvl1pPr algn="r">
              <a:defRPr sz="4800"/>
            </a:lvl1pPr>
          </a:lstStyle>
          <a:p>
            <a:r>
              <a:rPr lang="en-US" altLang="en-US" smtClean="0"/>
              <a:t>Click to edit Master title style</a:t>
            </a:r>
            <a:endParaRPr lang="en-US" altLang="en-US"/>
          </a:p>
        </p:txBody>
      </p:sp>
      <p:sp>
        <p:nvSpPr>
          <p:cNvPr id="4403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7685087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200"/>
            </a:lvl1pPr>
          </a:lstStyle>
          <a:p>
            <a:r>
              <a:rPr lang="en-US" altLang="en-US" smtClean="0"/>
              <a:t>Click to edit Master subtitle style</a:t>
            </a:r>
            <a:endParaRPr lang="en-US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3CA550-1D00-4ABF-938A-2A14AB1DD5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2743200" y="6248400"/>
            <a:ext cx="381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Texas Education Agency, 2012. All rights reserved. Images and other multimedia content used with permission. </a:t>
            </a:r>
          </a:p>
        </p:txBody>
      </p:sp>
    </p:spTree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0"/>
          </p:nvPr>
        </p:nvSpPr>
        <p:spPr>
          <a:xfrm>
            <a:off x="2514600" y="6248400"/>
            <a:ext cx="4191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Texas Education Agency, 2012. All rights reserved. Images and other multimedia content used with permission. 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010400" y="6248400"/>
            <a:ext cx="16764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251FDE-E98F-4553-9B13-58387C9764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34290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Texas Education Agency, 2012. All rights reserved. Images and other multimedia content used with permission. 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1A634F-345E-402B-B631-F7C36B36F6B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34290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Texas Education Agency, 2012. All rights reserved. Images and other multimedia content used with permission. 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CB9BBE-8807-45A9-BC65-1FAC4B2AFA1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34290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Texas Education Agency, 2012. All rights reserved. Images and other multimedia content used with permission. </a:t>
            </a:r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716CBF-7956-4592-8391-5778A1124A3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34290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Texas Education Agency, 2012. All rights reserved. Images and other multimedia content used with permission. 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31902B-8CBD-4C0F-B949-E3E74BFBC95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34290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Texas Education Agency, 2012. All rights reserved. Images and other multimedia content used with permission. 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20AB6D-FD44-4151-A5F8-061C274A453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34290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Texas Education Agency, 2012. All rights reserved. Images and other multimedia content used with permission. 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341720-EE59-4F85-A4F0-1C55476B545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34290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Texas Education Agency, 2012. All rights reserved. Images and other multimedia content used with permission. 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A78F87-F2F6-453E-BB42-78F24AE0D4B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34290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Texas Education Agency, 2012. All rights reserved. Images and other multimedia content used with permission. 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544ECA-787C-4326-B9FC-B60BBBAC2AC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34290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Texas Education Agency, 2012. All rights reserved. Images and other multimedia content used with permission. 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46BFDC-8221-476A-90FF-C102EDD7A1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Title, 2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6248400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719263"/>
            <a:ext cx="4038600" cy="212883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57200" y="4000500"/>
            <a:ext cx="4038600" cy="21304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3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5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34290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Texas Education Agency, 2012. All rights reserved. Images and other multimedia content used with permission. </a:t>
            </a:r>
          </a:p>
        </p:txBody>
      </p:sp>
      <p:sp>
        <p:nvSpPr>
          <p:cNvPr id="8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163724-0960-486A-B25A-A0FF6ED958F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6248400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34290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Texas Education Agency, 2012. All rights reserved. Images and other multimedia content used with permission. 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ED8062-E481-417B-A2AB-3B3D1B6550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6248400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34290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Texas Education Agency, 2012. All rights reserved. Images and other multimedia content used with permission. 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8E6E90-49D5-4EC2-A328-DE717407F1E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62484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301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667000" y="6248400"/>
            <a:ext cx="3886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>
                <a:solidFill>
                  <a:schemeClr val="tx1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r>
              <a:rPr lang="en-US"/>
              <a:t>Copyright © Texas Education Agency, 2012. All rights reserved. Images and other multimedia content used with permission. </a:t>
            </a:r>
          </a:p>
        </p:txBody>
      </p:sp>
      <p:sp>
        <p:nvSpPr>
          <p:cNvPr id="4301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tx1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fld id="{D35540A8-D903-48CE-8504-C19D3D2952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030" name="Picture 7" descr="ARTS_SMcopy.jpg"/>
          <p:cNvPicPr>
            <a:picLocks noChangeAspect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6729413" y="381000"/>
            <a:ext cx="2185987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  <p:sldLayoutId id="2147483706" r:id="rId14"/>
  </p:sldLayoutIdLst>
  <p:transition spd="med">
    <p:fade/>
  </p:transition>
  <p:timing>
    <p:tnLst>
      <p:par>
        <p:cTn id="1" dur="indefinite" restart="never" nodeType="tmRoot"/>
      </p:par>
    </p:tnLst>
  </p:timing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ＭＳ Ｐゴシック" charset="0"/>
          <a:cs typeface="ＭＳ Ｐゴシック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ＭＳ Ｐゴシック" charset="0"/>
          <a:cs typeface="ＭＳ Ｐゴシック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ＭＳ Ｐゴシック" charset="0"/>
          <a:cs typeface="ＭＳ Ｐゴシック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ＭＳ Ｐゴシック" charset="0"/>
          <a:cs typeface="ＭＳ Ｐゴシック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ＭＳ Ｐゴシック" charset="0"/>
          <a:cs typeface="ＭＳ Ｐゴシック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l"/>
        <a:defRPr sz="3000">
          <a:solidFill>
            <a:srgbClr val="000066"/>
          </a:solidFill>
          <a:latin typeface="+mn-lt"/>
          <a:ea typeface="ＭＳ Ｐゴシック" charset="0"/>
          <a:cs typeface="ＭＳ Ｐゴシック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2600">
          <a:solidFill>
            <a:srgbClr val="000066"/>
          </a:solidFill>
          <a:latin typeface="+mn-lt"/>
          <a:ea typeface="ＭＳ Ｐゴシック" charset="0"/>
          <a:cs typeface="ＭＳ Ｐゴシック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l"/>
        <a:defRPr sz="2300">
          <a:solidFill>
            <a:srgbClr val="000066"/>
          </a:solidFill>
          <a:latin typeface="+mn-lt"/>
          <a:ea typeface="ＭＳ Ｐゴシック" charset="0"/>
          <a:cs typeface="ＭＳ Ｐゴシック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§"/>
        <a:defRPr sz="2000">
          <a:solidFill>
            <a:srgbClr val="000066"/>
          </a:solidFill>
          <a:latin typeface="+mn-lt"/>
          <a:ea typeface="ＭＳ Ｐゴシック" charset="0"/>
          <a:cs typeface="ＭＳ Ｐゴシック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rgbClr val="000066"/>
          </a:solidFill>
          <a:latin typeface="+mn-lt"/>
          <a:ea typeface="ＭＳ Ｐゴシック" charset="0"/>
          <a:cs typeface="ＭＳ Ｐゴシック"/>
        </a:defRPr>
      </a:lvl5pPr>
      <a:lvl6pPr marL="20558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rgbClr val="000066"/>
          </a:solidFill>
          <a:latin typeface="+mn-lt"/>
        </a:defRPr>
      </a:lvl6pPr>
      <a:lvl7pPr marL="25130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rgbClr val="000066"/>
          </a:solidFill>
          <a:latin typeface="+mn-lt"/>
        </a:defRPr>
      </a:lvl7pPr>
      <a:lvl8pPr marL="29702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rgbClr val="000066"/>
          </a:solidFill>
          <a:latin typeface="+mn-lt"/>
        </a:defRPr>
      </a:lvl8pPr>
      <a:lvl9pPr marL="34274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rgbClr val="000066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upload.wikimedia.org/wikipedia/commons/d/dd/Muybridge_race_horse_animated.gif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gi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sevencamels.blogspot.com/2011/10/squash-and-stretch-part-one.html" TargetMode="External"/><Relationship Id="rId2" Type="http://schemas.openxmlformats.org/officeDocument/2006/relationships/hyperlink" Target="http://youtu.be/3UazLS_VO00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gi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jpe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6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z="4000" smtClean="0">
                <a:ea typeface="ＭＳ Ｐゴシック"/>
              </a:rPr>
              <a:t>Animation</a:t>
            </a:r>
          </a:p>
        </p:txBody>
      </p:sp>
      <p:sp>
        <p:nvSpPr>
          <p:cNvPr id="18434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5334000" y="2819400"/>
            <a:ext cx="3276600" cy="25908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>
                <a:solidFill>
                  <a:schemeClr val="bg2"/>
                </a:solidFill>
                <a:ea typeface="ＭＳ Ｐゴシック" pitchFamily="34" charset="-128"/>
                <a:cs typeface="+mn-cs"/>
              </a:rPr>
              <a:t>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  <a:cs typeface="+mn-cs"/>
              </a:rPr>
              <a:t>The Twelve Principles of Animation</a:t>
            </a:r>
            <a:endParaRPr lang="en-US" dirty="0" smtClean="0">
              <a:solidFill>
                <a:schemeClr val="bg1">
                  <a:lumMod val="65000"/>
                </a:schemeClr>
              </a:solidFill>
              <a:ea typeface="ＭＳ Ｐゴシック" pitchFamily="34" charset="-128"/>
              <a:cs typeface="+mn-cs"/>
            </a:endParaRPr>
          </a:p>
        </p:txBody>
      </p:sp>
      <p:sp>
        <p:nvSpPr>
          <p:cNvPr id="18435" name="Rectangle 7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78376E-503E-49BC-8F37-FBC5630C42C5}" type="slidenum">
              <a:rPr lang="en-US" smtClean="0">
                <a:latin typeface="Arial" charset="0"/>
                <a:ea typeface="ＭＳ Ｐゴシック" pitchFamily="34" charset="-128"/>
              </a:rPr>
              <a:pPr>
                <a:defRPr/>
              </a:pPr>
              <a:t>1</a:t>
            </a:fld>
            <a:endParaRPr lang="en-US" smtClean="0">
              <a:latin typeface="Arial" charset="0"/>
              <a:ea typeface="ＭＳ Ｐゴシック" pitchFamily="34" charset="-128"/>
            </a:endParaRPr>
          </a:p>
        </p:txBody>
      </p:sp>
      <p:sp>
        <p:nvSpPr>
          <p:cNvPr id="1843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590800" y="6248400"/>
            <a:ext cx="3962400" cy="457200"/>
          </a:xfrm>
        </p:spPr>
        <p:txBody>
          <a:bodyPr/>
          <a:lstStyle/>
          <a:p>
            <a:pPr>
              <a:defRPr/>
            </a:pPr>
            <a:r>
              <a:rPr lang="en-US">
                <a:latin typeface="Arial" charset="0"/>
                <a:ea typeface="ＭＳ Ｐゴシック" pitchFamily="34" charset="-128"/>
              </a:rPr>
              <a:t>Copyright © Texas Education Agency, 2012. All rights reserved. Images and other multimedia content used with permission. </a:t>
            </a:r>
          </a:p>
        </p:txBody>
      </p:sp>
      <p:pic>
        <p:nvPicPr>
          <p:cNvPr id="18437" name="Picture 1">
            <a:hlinkClick r:id="rId3"/>
          </p:cNvPr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33400" y="2895600"/>
            <a:ext cx="4114800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438" name="TextBox 2"/>
          <p:cNvSpPr txBox="1">
            <a:spLocks noChangeArrowheads="1"/>
          </p:cNvSpPr>
          <p:nvPr/>
        </p:nvSpPr>
        <p:spPr bwMode="auto">
          <a:xfrm>
            <a:off x="457200" y="5638800"/>
            <a:ext cx="6553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000">
                <a:solidFill>
                  <a:schemeClr val="tx1"/>
                </a:solidFill>
                <a:cs typeface="ＭＳ Ｐゴシック"/>
              </a:rPr>
              <a:t>Photos taken by Eadweard Muybridge (died 1904), first published in 1887 at Philadelphia (</a:t>
            </a:r>
            <a:r>
              <a:rPr lang="en-US" sz="1000" i="1">
                <a:solidFill>
                  <a:schemeClr val="tx1"/>
                </a:solidFill>
                <a:cs typeface="ＭＳ Ｐゴシック"/>
              </a:rPr>
              <a:t>Animal Locomotion</a:t>
            </a:r>
            <a:r>
              <a:rPr lang="en-US" sz="1000">
                <a:solidFill>
                  <a:schemeClr val="tx1"/>
                </a:solidFill>
                <a:cs typeface="ＭＳ Ｐゴシック"/>
              </a:rPr>
              <a:t>).</a:t>
            </a:r>
            <a:endParaRPr lang="en-US" sz="1000" i="1">
              <a:solidFill>
                <a:schemeClr val="tx1"/>
              </a:solidFill>
              <a:cs typeface="ＭＳ Ｐゴシック"/>
            </a:endParaRPr>
          </a:p>
          <a:p>
            <a:r>
              <a:rPr lang="en-US" sz="1000" i="1">
                <a:solidFill>
                  <a:schemeClr val="tx1"/>
                </a:solidFill>
                <a:cs typeface="ＭＳ Ｐゴシック"/>
              </a:rPr>
              <a:t>This image (or other media file) is in the public domain because its copyright has expired.</a:t>
            </a:r>
            <a:endParaRPr lang="en-US" sz="1000">
              <a:solidFill>
                <a:schemeClr val="tx1"/>
              </a:solidFill>
              <a:cs typeface="ＭＳ Ｐゴシック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154168" y="5031432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Plus images from http</a:t>
            </a:r>
            <a:r>
              <a:rPr lang="en-US" sz="1200" dirty="0"/>
              <a:t>://richard-wood.co.uk</a:t>
            </a:r>
            <a:r>
              <a:rPr lang="en-US" sz="1200" dirty="0" smtClean="0"/>
              <a:t>/ animation/12-basic-principles-of-animation</a:t>
            </a:r>
            <a:r>
              <a:rPr lang="en-US" sz="1200" dirty="0"/>
              <a:t>/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Two main categories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5257800" cy="4648200"/>
          </a:xfrm>
        </p:spPr>
        <p:txBody>
          <a:bodyPr/>
          <a:lstStyle/>
          <a:p>
            <a:r>
              <a:rPr lang="en-US" altLang="en-US" sz="2800"/>
              <a:t>Computer-assisted animation</a:t>
            </a:r>
          </a:p>
          <a:p>
            <a:pPr lvl="1"/>
            <a:r>
              <a:rPr lang="en-US" altLang="en-US" sz="2400"/>
              <a:t>2D &amp; 2 1/2 D</a:t>
            </a:r>
          </a:p>
          <a:p>
            <a:pPr lvl="1"/>
            <a:r>
              <a:rPr lang="en-US" altLang="en-US" sz="2400"/>
              <a:t>Inbetweening</a:t>
            </a:r>
          </a:p>
          <a:p>
            <a:pPr lvl="1"/>
            <a:r>
              <a:rPr lang="en-US" altLang="en-US" sz="2400"/>
              <a:t>Inking, virtual camera, managing data, etc</a:t>
            </a:r>
          </a:p>
          <a:p>
            <a:r>
              <a:rPr lang="en-US" altLang="en-US" sz="2800"/>
              <a:t>Computer generated animation</a:t>
            </a:r>
          </a:p>
          <a:p>
            <a:pPr lvl="1"/>
            <a:r>
              <a:rPr lang="en-US" altLang="en-US" sz="2400"/>
              <a:t>Low level techniques	</a:t>
            </a:r>
          </a:p>
          <a:p>
            <a:pPr lvl="2"/>
            <a:r>
              <a:rPr lang="en-US" altLang="en-US" sz="2000"/>
              <a:t>Precisely specifying motion</a:t>
            </a:r>
          </a:p>
          <a:p>
            <a:pPr lvl="1"/>
            <a:r>
              <a:rPr lang="en-US" altLang="en-US" sz="2400"/>
              <a:t>High level techniques</a:t>
            </a:r>
          </a:p>
          <a:p>
            <a:pPr lvl="2"/>
            <a:r>
              <a:rPr lang="en-US" altLang="en-US" sz="2000"/>
              <a:t>Describe general motion behavior</a:t>
            </a:r>
          </a:p>
        </p:txBody>
      </p:sp>
      <p:pic>
        <p:nvPicPr>
          <p:cNvPr id="8198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1524000"/>
            <a:ext cx="2413000" cy="2025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9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4038600"/>
            <a:ext cx="2997200" cy="2247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23694394"/>
      </p:ext>
    </p:extLst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Low level techniques</a:t>
            </a:r>
          </a:p>
        </p:txBody>
      </p:sp>
      <p:sp>
        <p:nvSpPr>
          <p:cNvPr id="10243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Shape interpolation (in-betweening)</a:t>
            </a:r>
          </a:p>
          <a:p>
            <a:r>
              <a:rPr lang="en-US" altLang="en-US"/>
              <a:t>Have to know what you want</a:t>
            </a:r>
          </a:p>
        </p:txBody>
      </p:sp>
      <p:pic>
        <p:nvPicPr>
          <p:cNvPr id="10244" name="Picture 102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3124200"/>
            <a:ext cx="3175000" cy="3467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93341218"/>
      </p:ext>
    </p:extLst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High level techniques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3429000" cy="4648200"/>
          </a:xfrm>
        </p:spPr>
        <p:txBody>
          <a:bodyPr/>
          <a:lstStyle/>
          <a:p>
            <a:r>
              <a:rPr lang="en-US" altLang="en-US"/>
              <a:t>Generate motion with set of rules or constraints</a:t>
            </a:r>
          </a:p>
          <a:p>
            <a:pPr lvl="1"/>
            <a:r>
              <a:rPr lang="en-US" altLang="en-US"/>
              <a:t>Physically based motion </a:t>
            </a:r>
          </a:p>
        </p:txBody>
      </p:sp>
      <p:pic>
        <p:nvPicPr>
          <p:cNvPr id="9222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7500" y="2362200"/>
            <a:ext cx="4787900" cy="3668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223" name="Rectangle 7"/>
          <p:cNvSpPr>
            <a:spLocks noChangeArrowheads="1"/>
          </p:cNvSpPr>
          <p:nvPr/>
        </p:nvSpPr>
        <p:spPr bwMode="auto">
          <a:xfrm>
            <a:off x="3276600" y="6096000"/>
            <a:ext cx="5430838" cy="290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300">
                <a:solidFill>
                  <a:srgbClr val="000000"/>
                </a:solidFill>
                <a:latin typeface="Lucida Grande" charset="0"/>
              </a:rPr>
              <a:t>http://www.cs.berkeley.edu/~job/Projects/SoundGen/video.html</a:t>
            </a:r>
          </a:p>
        </p:txBody>
      </p:sp>
    </p:spTree>
    <p:extLst>
      <p:ext uri="{BB962C8B-B14F-4D97-AF65-F5344CB8AC3E}">
        <p14:creationId xmlns:p14="http://schemas.microsoft.com/office/powerpoint/2010/main" val="948308780"/>
      </p:ext>
    </p:extLst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Heritage of Animation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Persistence of vision: discovered about 1800s</a:t>
            </a:r>
          </a:p>
          <a:p>
            <a:pPr lvl="1"/>
            <a:r>
              <a:rPr lang="en-US" altLang="en-US"/>
              <a:t>Zoetrope or “wheel of life”</a:t>
            </a:r>
          </a:p>
          <a:p>
            <a:pPr lvl="1"/>
            <a:r>
              <a:rPr lang="en-US" altLang="en-US"/>
              <a:t>Flip-book</a:t>
            </a:r>
          </a:p>
        </p:txBody>
      </p:sp>
      <p:pic>
        <p:nvPicPr>
          <p:cNvPr id="1331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2133600"/>
            <a:ext cx="3175000" cy="254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733800"/>
            <a:ext cx="4419600" cy="303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8768277"/>
      </p:ext>
    </p:extLst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Heritage of Animation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Animation as an art form</a:t>
            </a:r>
          </a:p>
          <a:p>
            <a:pPr lvl="1"/>
            <a:r>
              <a:rPr lang="en-US" altLang="en-US"/>
              <a:t>First animated character with personality</a:t>
            </a:r>
          </a:p>
          <a:p>
            <a:pPr lvl="2"/>
            <a:r>
              <a:rPr lang="en-US" altLang="en-US"/>
              <a:t>Felix the cat by Otto Messmer (1920s)</a:t>
            </a:r>
          </a:p>
          <a:p>
            <a:r>
              <a:rPr lang="en-US" altLang="en-US"/>
              <a:t>Force to reckoned with</a:t>
            </a:r>
          </a:p>
          <a:p>
            <a:pPr lvl="1"/>
            <a:r>
              <a:rPr lang="en-US" altLang="en-US"/>
              <a:t>Sound and Walt Disney</a:t>
            </a:r>
          </a:p>
        </p:txBody>
      </p:sp>
      <p:pic>
        <p:nvPicPr>
          <p:cNvPr id="2560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3581400"/>
            <a:ext cx="3175000" cy="3276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35745214"/>
      </p:ext>
    </p:extLst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Disney: Animation as an art form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Innovations</a:t>
            </a:r>
          </a:p>
          <a:p>
            <a:pPr lvl="1"/>
            <a:r>
              <a:rPr lang="en-US" altLang="en-US"/>
              <a:t>Story board to review story</a:t>
            </a:r>
          </a:p>
          <a:p>
            <a:pPr lvl="1"/>
            <a:r>
              <a:rPr lang="en-US" altLang="en-US"/>
              <a:t>Pencil sketch to review motion</a:t>
            </a:r>
          </a:p>
          <a:p>
            <a:pPr lvl="1"/>
            <a:r>
              <a:rPr lang="en-US" altLang="en-US"/>
              <a:t>Multi-plane camera stand</a:t>
            </a:r>
          </a:p>
          <a:p>
            <a:pPr lvl="1"/>
            <a:r>
              <a:rPr lang="en-US" altLang="en-US"/>
              <a:t>Color (not first to use color)</a:t>
            </a:r>
          </a:p>
          <a:p>
            <a:pPr lvl="1"/>
            <a:r>
              <a:rPr lang="en-US" altLang="en-US"/>
              <a:t>Sound!</a:t>
            </a:r>
          </a:p>
          <a:p>
            <a:pPr lvl="2"/>
            <a:r>
              <a:rPr lang="en-US" altLang="en-US"/>
              <a:t>Steamboat Willie (1928)</a:t>
            </a:r>
          </a:p>
          <a:p>
            <a:pPr lvl="1"/>
            <a:endParaRPr lang="en-US" altLang="en-US"/>
          </a:p>
        </p:txBody>
      </p:sp>
      <p:pic>
        <p:nvPicPr>
          <p:cNvPr id="266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3708400"/>
            <a:ext cx="2514600" cy="2463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03317259"/>
      </p:ext>
    </p:extLst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Slide Number Placeholder 6"/>
          <p:cNvSpPr>
            <a:spLocks noGrp="1"/>
          </p:cNvSpPr>
          <p:nvPr>
            <p:ph type="sldNum" sz="quarter" idx="12"/>
          </p:nvPr>
        </p:nvSpPr>
        <p:spPr>
          <a:extLst/>
        </p:spPr>
        <p:txBody>
          <a:bodyPr/>
          <a:lstStyle>
            <a:lvl1pPr eaLnBrk="0" hangingPunct="0">
              <a:defRPr>
                <a:solidFill>
                  <a:srgbClr val="000066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rgbClr val="000066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rgbClr val="000066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rgbClr val="000066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rgbClr val="000066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66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1BB574FF-9FF4-4C8C-BBE4-79C8BCBA141F}" type="slidenum">
              <a:rPr lang="en-US" altLang="en-US">
                <a:solidFill>
                  <a:schemeClr val="tx1"/>
                </a:solidFill>
              </a:rPr>
              <a:pPr eaLnBrk="1" hangingPunct="1">
                <a:defRPr/>
              </a:pPr>
              <a:t>8</a:t>
            </a:fld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2048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ea typeface="ＭＳ Ｐゴシック"/>
              </a:rPr>
              <a:t>Walt Disney</a:t>
            </a:r>
            <a:r>
              <a:rPr lang="en-US" smtClean="0">
                <a:latin typeface="Times New Roman" pitchFamily="18" charset="0"/>
                <a:ea typeface="ＭＳ Ｐゴシック"/>
              </a:rPr>
              <a:t>’</a:t>
            </a:r>
            <a:r>
              <a:rPr lang="en-US" smtClean="0">
                <a:ea typeface="ＭＳ Ｐゴシック"/>
              </a:rPr>
              <a:t>s Twelve Principles of Animation </a:t>
            </a:r>
          </a:p>
        </p:txBody>
      </p:sp>
      <p:sp>
        <p:nvSpPr>
          <p:cNvPr id="20483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3124200" y="1447800"/>
            <a:ext cx="5715000" cy="2166938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300" smtClean="0">
                <a:ea typeface="ＭＳ Ｐゴシック"/>
                <a:cs typeface="Times New Roman" pitchFamily="18" charset="0"/>
              </a:rPr>
              <a:t>During the late 1920</a:t>
            </a:r>
            <a:r>
              <a:rPr lang="en-US" sz="2300" smtClean="0">
                <a:latin typeface="Times New Roman" pitchFamily="18" charset="0"/>
                <a:ea typeface="ＭＳ Ｐゴシック"/>
                <a:cs typeface="Times New Roman" pitchFamily="18" charset="0"/>
              </a:rPr>
              <a:t>’</a:t>
            </a:r>
            <a:r>
              <a:rPr lang="en-US" sz="2300" smtClean="0">
                <a:ea typeface="ＭＳ Ｐゴシック"/>
                <a:cs typeface="Times New Roman" pitchFamily="18" charset="0"/>
              </a:rPr>
              <a:t>s through the 1930</a:t>
            </a:r>
            <a:r>
              <a:rPr lang="en-US" sz="2300" smtClean="0">
                <a:latin typeface="Times New Roman" pitchFamily="18" charset="0"/>
                <a:ea typeface="ＭＳ Ｐゴシック"/>
                <a:cs typeface="Times New Roman" pitchFamily="18" charset="0"/>
              </a:rPr>
              <a:t>’</a:t>
            </a:r>
            <a:r>
              <a:rPr lang="en-US" sz="2300" smtClean="0">
                <a:ea typeface="ＭＳ Ｐゴシック"/>
                <a:cs typeface="Times New Roman" pitchFamily="18" charset="0"/>
              </a:rPr>
              <a:t>s, Walt Disney worked to improve the techniques of his studio animators.</a:t>
            </a:r>
          </a:p>
          <a:p>
            <a:pPr eaLnBrk="1" hangingPunct="1">
              <a:lnSpc>
                <a:spcPct val="80000"/>
              </a:lnSpc>
            </a:pPr>
            <a:r>
              <a:rPr lang="en-US" sz="2300" smtClean="0">
                <a:ea typeface="ＭＳ Ｐゴシック"/>
                <a:cs typeface="Times New Roman" pitchFamily="18" charset="0"/>
              </a:rPr>
              <a:t>Disney set up drawing classes for his animators at the Chouinard Art Institute in Los Angeles under Instructor Don Graham.</a:t>
            </a:r>
          </a:p>
          <a:p>
            <a:pPr eaLnBrk="1" hangingPunct="1">
              <a:lnSpc>
                <a:spcPct val="80000"/>
              </a:lnSpc>
            </a:pPr>
            <a:r>
              <a:rPr lang="en-US" sz="2300" smtClean="0">
                <a:ea typeface="ＭＳ Ｐゴシック"/>
                <a:cs typeface="Times New Roman" pitchFamily="18" charset="0"/>
              </a:rPr>
              <a:t>Through these lessons and interaction between Disney and his staff, a set of twelve principles was developed.</a:t>
            </a:r>
          </a:p>
          <a:p>
            <a:pPr eaLnBrk="1" hangingPunct="1">
              <a:lnSpc>
                <a:spcPct val="80000"/>
              </a:lnSpc>
            </a:pPr>
            <a:r>
              <a:rPr lang="en-US" sz="2300" smtClean="0">
                <a:ea typeface="ＭＳ Ｐゴシック"/>
                <a:cs typeface="Times New Roman" pitchFamily="18" charset="0"/>
              </a:rPr>
              <a:t>These principles were used in Disney animated productions including </a:t>
            </a:r>
            <a:r>
              <a:rPr lang="en-US" sz="2300" i="1" smtClean="0">
                <a:ea typeface="ＭＳ Ｐゴシック"/>
                <a:cs typeface="Times New Roman" pitchFamily="18" charset="0"/>
              </a:rPr>
              <a:t>Snow White</a:t>
            </a:r>
            <a:r>
              <a:rPr lang="en-US" sz="2300" smtClean="0">
                <a:ea typeface="ＭＳ Ｐゴシック"/>
                <a:cs typeface="Times New Roman" pitchFamily="18" charset="0"/>
              </a:rPr>
              <a:t>, </a:t>
            </a:r>
            <a:r>
              <a:rPr lang="en-US" sz="2300" i="1" smtClean="0">
                <a:ea typeface="ＭＳ Ｐゴシック"/>
                <a:cs typeface="Times New Roman" pitchFamily="18" charset="0"/>
              </a:rPr>
              <a:t>Pinocchio</a:t>
            </a:r>
            <a:r>
              <a:rPr lang="en-US" sz="2300" smtClean="0">
                <a:ea typeface="ＭＳ Ｐゴシック"/>
                <a:cs typeface="Times New Roman" pitchFamily="18" charset="0"/>
              </a:rPr>
              <a:t>, </a:t>
            </a:r>
            <a:r>
              <a:rPr lang="en-US" sz="2300" i="1" smtClean="0">
                <a:ea typeface="ＭＳ Ｐゴシック"/>
                <a:cs typeface="Times New Roman" pitchFamily="18" charset="0"/>
              </a:rPr>
              <a:t>Fantasia</a:t>
            </a:r>
            <a:r>
              <a:rPr lang="en-US" sz="2300" smtClean="0">
                <a:ea typeface="ＭＳ Ｐゴシック"/>
                <a:cs typeface="Times New Roman" pitchFamily="18" charset="0"/>
              </a:rPr>
              <a:t>, </a:t>
            </a:r>
            <a:r>
              <a:rPr lang="en-US" sz="2300" i="1" smtClean="0">
                <a:ea typeface="ＭＳ Ｐゴシック"/>
                <a:cs typeface="Times New Roman" pitchFamily="18" charset="0"/>
              </a:rPr>
              <a:t>Dumbo</a:t>
            </a:r>
            <a:r>
              <a:rPr lang="en-US" sz="2300" smtClean="0">
                <a:ea typeface="ＭＳ Ｐゴシック"/>
                <a:cs typeface="Times New Roman" pitchFamily="18" charset="0"/>
              </a:rPr>
              <a:t>, and </a:t>
            </a:r>
            <a:r>
              <a:rPr lang="en-US" sz="2300" i="1" smtClean="0">
                <a:ea typeface="ＭＳ Ｐゴシック"/>
                <a:cs typeface="Times New Roman" pitchFamily="18" charset="0"/>
              </a:rPr>
              <a:t>Bambi</a:t>
            </a:r>
            <a:r>
              <a:rPr lang="en-US" sz="2300" smtClean="0">
                <a:ea typeface="ＭＳ Ｐゴシック"/>
                <a:cs typeface="Times New Roman" pitchFamily="18" charset="0"/>
              </a:rPr>
              <a:t>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Texas Education Agency, 2012. All rights reserved. Images and other multimedia content used with permission. </a:t>
            </a:r>
          </a:p>
        </p:txBody>
      </p:sp>
      <p:pic>
        <p:nvPicPr>
          <p:cNvPr id="20485" name="Picture 2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" y="1371600"/>
            <a:ext cx="2514600" cy="1951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486" name="TextBox 3"/>
          <p:cNvSpPr txBox="1">
            <a:spLocks noChangeArrowheads="1"/>
          </p:cNvSpPr>
          <p:nvPr/>
        </p:nvSpPr>
        <p:spPr bwMode="auto">
          <a:xfrm>
            <a:off x="457200" y="3330575"/>
            <a:ext cx="2590800" cy="774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900" i="1">
                <a:solidFill>
                  <a:schemeClr val="tx1"/>
                </a:solidFill>
                <a:cs typeface="ＭＳ Ｐゴシック"/>
              </a:rPr>
              <a:t>This work is in the public domain because it was published in the United States between 1923 and 1963 and although there may or may not have been a copyright notice, the copyright was not renewed.</a:t>
            </a:r>
            <a:endParaRPr lang="en-US" sz="900">
              <a:solidFill>
                <a:schemeClr val="tx1"/>
              </a:solidFill>
              <a:cs typeface="ＭＳ Ｐゴシック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5" descr="squash"/>
          <p:cNvPicPr>
            <a:picLocks noChangeAspect="1" noChangeArrowheads="1"/>
          </p:cNvPicPr>
          <p:nvPr/>
        </p:nvPicPr>
        <p:blipFill>
          <a:blip r:embed="rId3" cstate="print">
            <a:extLst/>
          </a:blip>
          <a:srcRect/>
          <a:stretch>
            <a:fillRect/>
          </a:stretch>
        </p:blipFill>
        <p:spPr bwMode="auto">
          <a:xfrm>
            <a:off x="5105400" y="1828800"/>
            <a:ext cx="3902242" cy="36641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</p:pic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ea typeface="ＭＳ Ｐゴシック"/>
              </a:rPr>
              <a:t>1. Squash and Stretch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19263"/>
            <a:ext cx="4648200" cy="3843337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400" smtClean="0">
                <a:ea typeface="ＭＳ Ｐゴシック"/>
                <a:cs typeface="Times New Roman" pitchFamily="18" charset="0"/>
              </a:rPr>
              <a:t>Living flesh distorts during motion.</a:t>
            </a:r>
          </a:p>
          <a:p>
            <a:pPr eaLnBrk="1" hangingPunct="1">
              <a:lnSpc>
                <a:spcPct val="80000"/>
              </a:lnSpc>
            </a:pPr>
            <a:r>
              <a:rPr lang="en-US" sz="2400" smtClean="0">
                <a:ea typeface="ＭＳ Ｐゴシック"/>
                <a:cs typeface="Times New Roman" pitchFamily="18" charset="0"/>
              </a:rPr>
              <a:t>Exaggerated deformations will emphasize motion and impact.</a:t>
            </a:r>
          </a:p>
          <a:p>
            <a:pPr eaLnBrk="1" hangingPunct="1">
              <a:lnSpc>
                <a:spcPct val="80000"/>
              </a:lnSpc>
            </a:pPr>
            <a:r>
              <a:rPr lang="en-US" sz="2400" smtClean="0">
                <a:ea typeface="ＭＳ Ｐゴシック"/>
                <a:cs typeface="Times New Roman" pitchFamily="18" charset="0"/>
              </a:rPr>
              <a:t>Although objects deform like rubber, they must maintain volume while being squashed and stretched.</a:t>
            </a:r>
          </a:p>
          <a:p>
            <a:pPr eaLnBrk="1" hangingPunct="1">
              <a:lnSpc>
                <a:spcPct val="80000"/>
              </a:lnSpc>
            </a:pPr>
            <a:r>
              <a:rPr lang="en-US" sz="2400" smtClean="0">
                <a:ea typeface="ＭＳ Ｐゴシック"/>
                <a:cs typeface="Times New Roman" pitchFamily="18" charset="0"/>
              </a:rPr>
              <a:t>A bouncing ball will squash or elongate on impact and stretch vertically as it leaves the point of impact.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Texas Education Agency, 2012. All rights reserved. Images and other multimedia content used with permission. 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5A38BC4-8A42-407B-9B42-193D1D49E833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sp>
        <p:nvSpPr>
          <p:cNvPr id="22534" name="TextBox 3"/>
          <p:cNvSpPr txBox="1">
            <a:spLocks noChangeArrowheads="1"/>
          </p:cNvSpPr>
          <p:nvPr/>
        </p:nvSpPr>
        <p:spPr bwMode="auto">
          <a:xfrm>
            <a:off x="381000" y="5786438"/>
            <a:ext cx="838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6075" indent="-290513">
              <a:buSzPct val="90000"/>
              <a:buFont typeface="Arial" charset="0"/>
              <a:buChar char="●"/>
            </a:pPr>
            <a:r>
              <a:rPr lang="en-US" sz="2400">
                <a:cs typeface="Times New Roman" pitchFamily="18" charset="0"/>
              </a:rPr>
              <a:t>This is the most well known and often used principle.</a:t>
            </a:r>
            <a:endParaRPr lang="en-US" sz="2400">
              <a:cs typeface="ＭＳ Ｐゴシック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http://</a:t>
            </a:r>
            <a:r>
              <a:rPr lang="en-US" dirty="0" smtClean="0">
                <a:hlinkClick r:id="rId2"/>
              </a:rPr>
              <a:t>youtu.be/3UazLS_VO00</a:t>
            </a:r>
            <a:endParaRPr lang="en-US" dirty="0" smtClean="0"/>
          </a:p>
          <a:p>
            <a:r>
              <a:rPr lang="en-US" dirty="0">
                <a:hlinkClick r:id="rId3"/>
              </a:rPr>
              <a:t>http://</a:t>
            </a:r>
            <a:r>
              <a:rPr lang="en-US" dirty="0" smtClean="0">
                <a:hlinkClick r:id="rId3"/>
              </a:rPr>
              <a:t>sevencamels.blogspot.com/2011/10/squash-and-stretch-part-one.html</a:t>
            </a:r>
            <a:r>
              <a:rPr lang="en-US" dirty="0" smtClean="0"/>
              <a:t> 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Texas Education Agency, 2012. All rights reserved. Images and other multimedia content used with permission. 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6251FDE-E98F-4553-9B13-58387C976440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pic>
        <p:nvPicPr>
          <p:cNvPr id="1026" name="Picture 2" descr="http://i.vimeocdn.com/video/455501298_640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6528" y="3352800"/>
            <a:ext cx="6096000" cy="3429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2233038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7" name="Picture 3" descr="C:\Users\nlc0026\AppData\Local\Microsoft\Windows\Temporary Internet Files\Content.IE5\2BI7KYW4\MC900084346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304800" y="1524000"/>
            <a:ext cx="4672013" cy="4779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ea typeface="ＭＳ Ｐゴシック"/>
              </a:rPr>
              <a:t>2. Anticipation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62400" y="1684338"/>
            <a:ext cx="5029200" cy="4411662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800" smtClean="0">
                <a:ea typeface="ＭＳ Ｐゴシック"/>
                <a:cs typeface="Times New Roman" pitchFamily="18" charset="0"/>
              </a:rPr>
              <a:t>Animation can occur before an action. Before you jump, you bend your knees.</a:t>
            </a:r>
          </a:p>
          <a:p>
            <a:pPr eaLnBrk="1" hangingPunct="1">
              <a:lnSpc>
                <a:spcPct val="80000"/>
              </a:lnSpc>
            </a:pPr>
            <a:r>
              <a:rPr lang="en-US" sz="2800" smtClean="0">
                <a:ea typeface="ＭＳ Ｐゴシック"/>
                <a:cs typeface="Times New Roman" pitchFamily="18" charset="0"/>
              </a:rPr>
              <a:t>By exaggerating this action, the animator can guide the viewer</a:t>
            </a:r>
            <a:r>
              <a:rPr lang="en-US" sz="2800" smtClean="0">
                <a:latin typeface="Times New Roman" pitchFamily="18" charset="0"/>
                <a:ea typeface="ＭＳ Ｐゴシック"/>
                <a:cs typeface="Times New Roman" pitchFamily="18" charset="0"/>
              </a:rPr>
              <a:t>’</a:t>
            </a:r>
            <a:r>
              <a:rPr lang="en-US" sz="2800" smtClean="0">
                <a:ea typeface="ＭＳ Ｐゴシック"/>
                <a:cs typeface="Times New Roman" pitchFamily="18" charset="0"/>
              </a:rPr>
              <a:t>s eyes.</a:t>
            </a:r>
          </a:p>
          <a:p>
            <a:pPr eaLnBrk="1" hangingPunct="1">
              <a:lnSpc>
                <a:spcPct val="80000"/>
              </a:lnSpc>
            </a:pPr>
            <a:r>
              <a:rPr lang="en-US" sz="2800" smtClean="0">
                <a:ea typeface="ＭＳ Ｐゴシック"/>
                <a:cs typeface="Times New Roman" pitchFamily="18" charset="0"/>
              </a:rPr>
              <a:t>The formula for most animations is anticipation, action, and reaction.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Texas Education Agency, 2012. All rights reserved. Images and other multimedia content used with permission. 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AABCF58-33B4-416F-BD75-A430B76877EB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Texas Education Agency, 2012. All rights reserved. Images and other multimedia content used with permission. 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6251FDE-E98F-4553-9B13-58387C976440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pic>
        <p:nvPicPr>
          <p:cNvPr id="2050" name="Picture 2" descr="http://www.animationbrain.com/2D/38principl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99" y="685800"/>
            <a:ext cx="5534025" cy="1819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://4.bp.blogspot.com/-C_NDc1CI51g/TZyZfjboxzI/AAAAAAAAAec/y305FXrLX94/s400/DonaldAnti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691384"/>
            <a:ext cx="3228975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http://animagazin.com/wp-content/uploads/2013/01/%C3%96n-hareket-Anticipation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5211" y="3048000"/>
            <a:ext cx="5374767" cy="2701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8970875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5" name="Picture 5" descr="dutch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14800" y="2743200"/>
            <a:ext cx="4738688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ea typeface="ＭＳ Ｐゴシック"/>
              </a:rPr>
              <a:t>3. Staging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719263"/>
            <a:ext cx="8305800" cy="4411662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400" smtClean="0">
                <a:ea typeface="ＭＳ Ｐゴシック"/>
                <a:cs typeface="Times New Roman" pitchFamily="18" charset="0"/>
              </a:rPr>
              <a:t>Staging is the clear presentation of an idea.</a:t>
            </a:r>
          </a:p>
          <a:p>
            <a:pPr eaLnBrk="1" hangingPunct="1">
              <a:lnSpc>
                <a:spcPct val="80000"/>
              </a:lnSpc>
            </a:pPr>
            <a:r>
              <a:rPr lang="en-US" sz="2400" smtClean="0">
                <a:ea typeface="ＭＳ Ｐゴシック"/>
                <a:cs typeface="Times New Roman" pitchFamily="18" charset="0"/>
              </a:rPr>
              <a:t>The animator can use the camera viewpoint, the framing of the shot, and the position of the characters to create a feeling or strengthen understanding.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© Texas Education Agency, 2012. All rights reserved. Images and other multimedia content used with permission. 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4DA4BAE-3905-4028-9130-D8A0BE3F91B8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Texas Education Agency, 2012. All rights reserved. Images and other multimedia content used with permission. 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6251FDE-E98F-4553-9B13-58387C976440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pic>
        <p:nvPicPr>
          <p:cNvPr id="3074" name="Picture 2" descr="http://www.rosenfeldmedia.com/books/mobile-design/god_bad_staging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609600"/>
            <a:ext cx="2381250" cy="1781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http://jordannwharton.files.wordpress.com/2012/09/secondaryaction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2390775"/>
            <a:ext cx="5435599" cy="4076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2095246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ea typeface="ＭＳ Ｐゴシック"/>
              </a:rPr>
              <a:t>4. Straight Ahead Versus</a:t>
            </a:r>
            <a:br>
              <a:rPr lang="en-US" smtClean="0">
                <a:ea typeface="ＭＳ Ｐゴシック"/>
              </a:rPr>
            </a:br>
            <a:r>
              <a:rPr lang="en-US" smtClean="0">
                <a:ea typeface="ＭＳ Ｐゴシック"/>
              </a:rPr>
              <a:t>Pose To Pose </a:t>
            </a:r>
          </a:p>
        </p:txBody>
      </p:sp>
      <p:sp>
        <p:nvSpPr>
          <p:cNvPr id="286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1963" y="1760538"/>
            <a:ext cx="7996237" cy="4411662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400" smtClean="0">
                <a:ea typeface="ＭＳ Ｐゴシック"/>
                <a:cs typeface="Times New Roman" pitchFamily="18" charset="0"/>
              </a:rPr>
              <a:t>Straight Ahead animation means drawing the frames in sequence. This leads to spontaneous motion. It works well with abstract animation.</a:t>
            </a:r>
          </a:p>
          <a:p>
            <a:pPr eaLnBrk="1" hangingPunct="1">
              <a:lnSpc>
                <a:spcPct val="80000"/>
              </a:lnSpc>
            </a:pPr>
            <a:r>
              <a:rPr lang="en-US" sz="2400" smtClean="0">
                <a:ea typeface="ＭＳ Ｐゴシック"/>
                <a:cs typeface="Times New Roman" pitchFamily="18" charset="0"/>
              </a:rPr>
              <a:t>Pose To Pose is the more often used animation technique. It requires the animator to create strong posed (keyframes) first and add the in-between frames later.</a:t>
            </a:r>
          </a:p>
          <a:p>
            <a:pPr eaLnBrk="1" hangingPunct="1">
              <a:lnSpc>
                <a:spcPct val="80000"/>
              </a:lnSpc>
            </a:pPr>
            <a:r>
              <a:rPr lang="en-US" sz="2400" smtClean="0">
                <a:ea typeface="ＭＳ Ｐゴシック"/>
                <a:cs typeface="Times New Roman" pitchFamily="18" charset="0"/>
              </a:rPr>
              <a:t>Pose to Pose is used for animation that requires good acting, where the poses and timing are all important.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Texas Education Agency, 2012. All rights reserved. Images and other multimedia content used with permission. 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F8C01BA-17D1-4624-9A91-4B71B69DF4D0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Texas Education Agency, 2012. All rights reserved. Images and other multimedia content used with permission. 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6251FDE-E98F-4553-9B13-58387C976440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pic>
        <p:nvPicPr>
          <p:cNvPr id="4098" name="Picture 2" descr="12-basic-principles-of-animation-straight-ahead-and-pose-to-pos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2057400"/>
            <a:ext cx="5240902" cy="289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4983342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ea typeface="ＭＳ Ｐゴシック"/>
              </a:rPr>
              <a:t>5. Follow Through and Overlap </a:t>
            </a:r>
          </a:p>
        </p:txBody>
      </p:sp>
      <p:sp>
        <p:nvSpPr>
          <p:cNvPr id="3072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400" smtClean="0">
                <a:ea typeface="ＭＳ Ｐゴシック"/>
                <a:cs typeface="Times New Roman" pitchFamily="18" charset="0"/>
              </a:rPr>
              <a:t>Follow Through is the action that follows the main action. It is the opposite of anticipation. </a:t>
            </a:r>
          </a:p>
          <a:p>
            <a:pPr eaLnBrk="1" hangingPunct="1">
              <a:lnSpc>
                <a:spcPct val="80000"/>
              </a:lnSpc>
            </a:pPr>
            <a:r>
              <a:rPr lang="en-US" sz="2400" smtClean="0">
                <a:ea typeface="ＭＳ Ｐゴシック"/>
                <a:cs typeface="Times New Roman" pitchFamily="18" charset="0"/>
              </a:rPr>
              <a:t>When a baseball bat hits the baseball, it does not stop abruptly. A boxer does not freeze at the moment a punch lands.</a:t>
            </a:r>
          </a:p>
          <a:p>
            <a:pPr eaLnBrk="1" hangingPunct="1">
              <a:lnSpc>
                <a:spcPct val="80000"/>
              </a:lnSpc>
            </a:pPr>
            <a:r>
              <a:rPr lang="en-US" sz="2400" smtClean="0">
                <a:ea typeface="ＭＳ Ｐゴシック"/>
                <a:cs typeface="Times New Roman" pitchFamily="18" charset="0"/>
              </a:rPr>
              <a:t>Overlapping actions means that all elements do not stop at the same time.</a:t>
            </a:r>
          </a:p>
          <a:p>
            <a:pPr eaLnBrk="1" hangingPunct="1">
              <a:lnSpc>
                <a:spcPct val="80000"/>
              </a:lnSpc>
            </a:pPr>
            <a:r>
              <a:rPr lang="en-US" sz="2400" smtClean="0">
                <a:ea typeface="ＭＳ Ｐゴシック"/>
                <a:cs typeface="Times New Roman" pitchFamily="18" charset="0"/>
              </a:rPr>
              <a:t>Overlapping action also means that a new action may begin before the earlier action is terminated. When hitting a baseball, the legs may begin moving to first base while the bat is finishing the swing.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Texas Education Agency, 2012. All rights reserved. Images and other multimedia content used with permission. 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4F63CAE-34D6-4180-8E1F-86C4AE464DCA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Texas Education Agency, 2012. All rights reserved. Images and other multimedia content used with permission. 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6251FDE-E98F-4553-9B13-58387C976440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pic>
        <p:nvPicPr>
          <p:cNvPr id="1026" name="Picture 2" descr="http://1.bp.blogspot.com/-i9mgn2Oomk8/TsPqfd-8LtI/AAAAAAAAAEg/n8T0K0d7tN4/s640/Follow+through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914400"/>
            <a:ext cx="5010150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://1.bp.blogspot.com/-H4y1MbY1K68/ToeFFt8fnSI/AAAAAAAAAE4/RQKd5T_AqJo/s1600/anticipation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2743199"/>
            <a:ext cx="5010150" cy="3886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478007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ea typeface="ＭＳ Ｐゴシック"/>
              </a:rPr>
              <a:t>6. Slow In and Slow Out </a:t>
            </a:r>
          </a:p>
        </p:txBody>
      </p:sp>
      <p:sp>
        <p:nvSpPr>
          <p:cNvPr id="3277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400" smtClean="0">
                <a:ea typeface="ＭＳ Ｐゴシック"/>
                <a:cs typeface="Times New Roman" pitchFamily="18" charset="0"/>
              </a:rPr>
              <a:t>Also known as ease in and ease out.</a:t>
            </a:r>
          </a:p>
          <a:p>
            <a:pPr eaLnBrk="1" hangingPunct="1">
              <a:lnSpc>
                <a:spcPct val="80000"/>
              </a:lnSpc>
            </a:pPr>
            <a:r>
              <a:rPr lang="en-US" sz="2400" smtClean="0">
                <a:ea typeface="ＭＳ Ｐゴシック"/>
                <a:cs typeface="Times New Roman" pitchFamily="18" charset="0"/>
              </a:rPr>
              <a:t>Most motion starts slowly, accelerates, and then slows again before stopping. Imagine a car that went 40 mph immediately when stepping on the accelerator and went to 0 mph when hitting the brake. </a:t>
            </a:r>
          </a:p>
          <a:p>
            <a:pPr eaLnBrk="1" hangingPunct="1">
              <a:lnSpc>
                <a:spcPct val="80000"/>
              </a:lnSpc>
            </a:pPr>
            <a:r>
              <a:rPr lang="en-US" sz="2400" smtClean="0">
                <a:ea typeface="ＭＳ Ｐゴシック"/>
                <a:cs typeface="Times New Roman" pitchFamily="18" charset="0"/>
              </a:rPr>
              <a:t>Gravity has an effect on slow in/slow out. When a ball bounces, it increases in speed as it gets closer to the ground. It decreases in speed at the top of the arch.</a:t>
            </a:r>
          </a:p>
          <a:p>
            <a:pPr eaLnBrk="1" hangingPunct="1">
              <a:lnSpc>
                <a:spcPct val="80000"/>
              </a:lnSpc>
            </a:pPr>
            <a:r>
              <a:rPr lang="en-US" sz="2400" smtClean="0">
                <a:ea typeface="ＭＳ Ｐゴシック"/>
                <a:cs typeface="Times New Roman" pitchFamily="18" charset="0"/>
              </a:rPr>
              <a:t>In many 3D applications, easing is created by setting the tension of a TCB spline to 1.0. To get the opposition effect from a keyframe, tension is set to -1.0.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Texas Education Agency, 2012. All rights reserved. Images and other multimedia content used with permission. 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0E6A148-9699-4051-9849-608BBE35E86D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http://www.siggraph.org/education/materials/HyperGraph/animation/character_animation/principles/bouncing_ball_example_of_slow_in_out.htm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Texas Education Agency, 2012. All rights reserved. Images and other multimedia content used with permission. 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6251FDE-E98F-4553-9B13-58387C976440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pic>
        <p:nvPicPr>
          <p:cNvPr id="2050" name="Picture 2" descr="http://justinsimonich.homestead.com/files/CUNY/walk_timing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2819400"/>
            <a:ext cx="5010150" cy="3200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8828624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ea typeface="ＭＳ Ｐゴシック"/>
              </a:rPr>
              <a:t>6. Slow In and Slow Out </a:t>
            </a:r>
          </a:p>
        </p:txBody>
      </p:sp>
      <p:pic>
        <p:nvPicPr>
          <p:cNvPr id="34818" name="Picture 5" descr="slow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2089150" y="1719263"/>
            <a:ext cx="4965700" cy="4411662"/>
          </a:xfr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Texas Education Agency, 2012. All rights reserved. Images and other multimedia content used with permission. 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860B318-0918-4ED8-9305-DFB0DD666A7F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5" name="Picture 5" descr="arc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800" y="3454400"/>
            <a:ext cx="4191000" cy="279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866" name="Picture 6" descr="arcs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00600" y="3622675"/>
            <a:ext cx="3943350" cy="2549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ea typeface="ＭＳ Ｐゴシック"/>
              </a:rPr>
              <a:t>7. Arcs</a:t>
            </a:r>
          </a:p>
        </p:txBody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400" smtClean="0">
                <a:ea typeface="ＭＳ Ｐゴシック"/>
                <a:cs typeface="Times New Roman" pitchFamily="18" charset="0"/>
              </a:rPr>
              <a:t>Almost all natural motion is in some form of an arc.</a:t>
            </a:r>
          </a:p>
          <a:p>
            <a:pPr eaLnBrk="1" hangingPunct="1">
              <a:lnSpc>
                <a:spcPct val="80000"/>
              </a:lnSpc>
            </a:pPr>
            <a:r>
              <a:rPr lang="en-US" sz="2400" smtClean="0">
                <a:ea typeface="ＭＳ Ｐゴシック"/>
                <a:cs typeface="Times New Roman" pitchFamily="18" charset="0"/>
              </a:rPr>
              <a:t>In 3D animation, a motion arc is usually created using a spline curve.</a:t>
            </a:r>
          </a:p>
          <a:p>
            <a:pPr eaLnBrk="1" hangingPunct="1">
              <a:lnSpc>
                <a:spcPct val="80000"/>
              </a:lnSpc>
            </a:pPr>
            <a:r>
              <a:rPr lang="en-US" sz="2400" smtClean="0">
                <a:ea typeface="ＭＳ Ｐゴシック"/>
                <a:cs typeface="Times New Roman" pitchFamily="18" charset="0"/>
              </a:rPr>
              <a:t>Pivot points often define the arc. The pivot point for the thigh is the hip, and the pivot point for the calf is the knee.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Texas Education Agency, 2012. All rights reserved. Images and other multimedia content used with permission. 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D240669-C0DC-40EC-82E8-E12FB177AF78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Spline Curves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Piecewise polynomials with smooth connections</a:t>
            </a:r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Texas Education Agency, 2012. All rights reserved. Images and other multimedia content used with permission. 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6251FDE-E98F-4553-9B13-58387C976440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pic>
        <p:nvPicPr>
          <p:cNvPr id="3074" name="Picture 2" descr="http://www.ucancode.net/Visual_C_Source_Code/Draw_Spline_Source_Cod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2819400"/>
            <a:ext cx="4340225" cy="333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http://corel.force.com/index/servlet/rtaImage?eid=ka060000000PY1k&amp;feoid=00N600000028y5z&amp;refid=0EM60000000LFfI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2895600"/>
            <a:ext cx="4171950" cy="2952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395862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ea typeface="ＭＳ Ｐゴシック"/>
              </a:rPr>
              <a:t>8. Secondary Actions </a:t>
            </a:r>
          </a:p>
        </p:txBody>
      </p:sp>
      <p:sp>
        <p:nvSpPr>
          <p:cNvPr id="389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19600" y="1719263"/>
            <a:ext cx="4267200" cy="4411662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400" smtClean="0">
                <a:ea typeface="ＭＳ Ｐゴシック"/>
                <a:cs typeface="Times New Roman" pitchFamily="18" charset="0"/>
              </a:rPr>
              <a:t>Secondary actions are minor actions that occur due to a major action. Most people blink their eyes when they turn their head.</a:t>
            </a:r>
          </a:p>
          <a:p>
            <a:pPr eaLnBrk="1" hangingPunct="1">
              <a:lnSpc>
                <a:spcPct val="80000"/>
              </a:lnSpc>
            </a:pPr>
            <a:r>
              <a:rPr lang="en-US" sz="2400" smtClean="0">
                <a:ea typeface="ＭＳ Ｐゴシック"/>
                <a:cs typeface="Times New Roman" pitchFamily="18" charset="0"/>
              </a:rPr>
              <a:t>Facial expressions are secondary actions.</a:t>
            </a:r>
          </a:p>
          <a:p>
            <a:pPr eaLnBrk="1" hangingPunct="1">
              <a:lnSpc>
                <a:spcPct val="80000"/>
              </a:lnSpc>
            </a:pPr>
            <a:r>
              <a:rPr lang="en-US" sz="2400" smtClean="0">
                <a:ea typeface="ＭＳ Ｐゴシック"/>
                <a:cs typeface="Times New Roman" pitchFamily="18" charset="0"/>
              </a:rPr>
              <a:t>Secondary actions are also actions caused by the impact of another object. The movement of a ball that has been kicked is a secondary action.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Texas Education Agency, 2012. All rights reserved. Images and other multimedia content used with permission. 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AD706C3-C530-4262-9748-48118D6A68A8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pic>
        <p:nvPicPr>
          <p:cNvPr id="38917" name="Picture 3" descr="C:\Users\nlc0026\AppData\Local\Microsoft\Windows\Temporary Internet Files\Content.IE5\2BI7KYW4\MC900438481[1]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1447800"/>
            <a:ext cx="4124325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Texas Education Agency, 2012. All rights reserved. Images and other multimedia content used with permission. 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6251FDE-E98F-4553-9B13-58387C976440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p:pic>
        <p:nvPicPr>
          <p:cNvPr id="4098" name="Picture 2" descr="http://mile.mmu.edu.my/orion/amira/files/2013/04/Hat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676400"/>
            <a:ext cx="5638800" cy="4041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9644415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ea typeface="ＭＳ Ｐゴシック"/>
              </a:rPr>
              <a:t>9. Timing </a:t>
            </a:r>
          </a:p>
        </p:txBody>
      </p:sp>
      <p:sp>
        <p:nvSpPr>
          <p:cNvPr id="4096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400" smtClean="0">
                <a:ea typeface="ＭＳ Ｐゴシック"/>
                <a:cs typeface="Times New Roman" pitchFamily="18" charset="0"/>
              </a:rPr>
              <a:t>Timing is the amount of frames between poses.</a:t>
            </a:r>
          </a:p>
          <a:p>
            <a:pPr eaLnBrk="1" hangingPunct="1">
              <a:lnSpc>
                <a:spcPct val="80000"/>
              </a:lnSpc>
            </a:pPr>
            <a:r>
              <a:rPr lang="en-US" sz="2400" smtClean="0">
                <a:ea typeface="ＭＳ Ｐゴシック"/>
                <a:cs typeface="Times New Roman" pitchFamily="18" charset="0"/>
              </a:rPr>
              <a:t>Comedians and actors work with their timing to get the maximum impact from their lines.</a:t>
            </a:r>
          </a:p>
          <a:p>
            <a:pPr eaLnBrk="1" hangingPunct="1">
              <a:lnSpc>
                <a:spcPct val="80000"/>
              </a:lnSpc>
            </a:pPr>
            <a:r>
              <a:rPr lang="en-US" sz="2400" smtClean="0">
                <a:ea typeface="ＭＳ Ｐゴシック"/>
                <a:cs typeface="Times New Roman" pitchFamily="18" charset="0"/>
              </a:rPr>
              <a:t>Timing can imply weight. Light objects have much less resistance and usually move much quicker than heavy objects.</a:t>
            </a:r>
          </a:p>
          <a:p>
            <a:pPr eaLnBrk="1" hangingPunct="1">
              <a:lnSpc>
                <a:spcPct val="80000"/>
              </a:lnSpc>
            </a:pPr>
            <a:r>
              <a:rPr lang="en-US" sz="2400" smtClean="0">
                <a:ea typeface="ＭＳ Ｐゴシック"/>
                <a:cs typeface="Times New Roman" pitchFamily="18" charset="0"/>
              </a:rPr>
              <a:t>Speed can imply emotion. A fast walk may mean happiness and a slow walk may mean depression.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Texas Education Agency, 2012. All rights reserved. Images and other multimedia content used with permission. 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E350A5E-6395-4425-8C84-10F44282B40A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ea typeface="ＭＳ Ｐゴシック"/>
              </a:rPr>
              <a:t>10. Exaggeration </a:t>
            </a:r>
          </a:p>
        </p:txBody>
      </p:sp>
      <p:sp>
        <p:nvSpPr>
          <p:cNvPr id="430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19263"/>
            <a:ext cx="4621213" cy="4411662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400" smtClean="0">
                <a:ea typeface="ＭＳ Ｐゴシック"/>
                <a:cs typeface="Times New Roman" pitchFamily="18" charset="0"/>
              </a:rPr>
              <a:t>Exaggeration is used to increase the readability of emotions and actions.</a:t>
            </a:r>
          </a:p>
          <a:p>
            <a:pPr eaLnBrk="1" hangingPunct="1">
              <a:lnSpc>
                <a:spcPct val="80000"/>
              </a:lnSpc>
            </a:pPr>
            <a:r>
              <a:rPr lang="en-US" sz="2400" smtClean="0">
                <a:ea typeface="ＭＳ Ｐゴシック"/>
                <a:cs typeface="Times New Roman" pitchFamily="18" charset="0"/>
              </a:rPr>
              <a:t>Animation is not a subtle medium.</a:t>
            </a:r>
          </a:p>
          <a:p>
            <a:pPr eaLnBrk="1" hangingPunct="1">
              <a:lnSpc>
                <a:spcPct val="80000"/>
              </a:lnSpc>
            </a:pPr>
            <a:r>
              <a:rPr lang="en-US" sz="2400" smtClean="0">
                <a:ea typeface="ＭＳ Ｐゴシック"/>
                <a:cs typeface="Times New Roman" pitchFamily="18" charset="0"/>
              </a:rPr>
              <a:t>Individual exaggerated poses may look silly as stills but add dramatic impact when viewed for a split second.</a:t>
            </a:r>
          </a:p>
          <a:p>
            <a:pPr eaLnBrk="1" hangingPunct="1">
              <a:lnSpc>
                <a:spcPct val="80000"/>
              </a:lnSpc>
            </a:pPr>
            <a:r>
              <a:rPr lang="en-US" sz="2400" smtClean="0">
                <a:ea typeface="ＭＳ Ｐゴシック"/>
                <a:cs typeface="Times New Roman" pitchFamily="18" charset="0"/>
              </a:rPr>
              <a:t>Animators should be careful to use exaggeration to increase understanding of feeling. Be careful not to over-exaggerate everything.</a:t>
            </a:r>
            <a:endParaRPr lang="en-US" sz="2400" i="1" smtClean="0">
              <a:ea typeface="ＭＳ Ｐゴシック"/>
              <a:cs typeface="Times New Roman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Texas Education Agency, 2012. All rights reserved. Images and other multimedia content used with permission. 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DAEEFC0-AFDB-4EA4-88F4-6DB2B71A1F9D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  <p:pic>
        <p:nvPicPr>
          <p:cNvPr id="43013" name="Picture 2" descr="C:\Users\nlc0026\AppData\Local\Microsoft\Windows\Temporary Internet Files\Content.IE5\2BI7KYW4\MC900140193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05400" y="1600200"/>
            <a:ext cx="3733800" cy="297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Triplets of Belleville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https://www.youtube.com/watch?v=X-KChYBFiB0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Copyright © Texas Education Agency, 2012. All rights reserved. Images and other multimedia content used with permission. 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6251FDE-E98F-4553-9B13-58387C976440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2362200"/>
            <a:ext cx="5562600" cy="343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56172243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ea typeface="ＭＳ Ｐゴシック"/>
              </a:rPr>
              <a:t>11. Solid Drawing </a:t>
            </a:r>
          </a:p>
        </p:txBody>
      </p:sp>
      <p:sp>
        <p:nvSpPr>
          <p:cNvPr id="4505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05200" y="1600200"/>
            <a:ext cx="5181600" cy="4411663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400" dirty="0" smtClean="0">
                <a:ea typeface="ＭＳ Ｐゴシック"/>
                <a:cs typeface="Times New Roman" pitchFamily="18" charset="0"/>
              </a:rPr>
              <a:t>In 3D animation, this would be equivalent to Solid Modeling. </a:t>
            </a:r>
          </a:p>
          <a:p>
            <a:pPr eaLnBrk="1" hangingPunct="1">
              <a:lnSpc>
                <a:spcPct val="80000"/>
              </a:lnSpc>
            </a:pPr>
            <a:r>
              <a:rPr lang="en-US" sz="2400" dirty="0" smtClean="0">
                <a:ea typeface="ＭＳ Ｐゴシック"/>
                <a:cs typeface="Times New Roman" pitchFamily="18" charset="0"/>
              </a:rPr>
              <a:t>To get maximum feeling from the audience, animated characters must be drawn or modeled precisely.</a:t>
            </a:r>
          </a:p>
          <a:p>
            <a:pPr eaLnBrk="1" hangingPunct="1">
              <a:lnSpc>
                <a:spcPct val="80000"/>
              </a:lnSpc>
            </a:pPr>
            <a:r>
              <a:rPr lang="en-US" sz="2400" dirty="0" smtClean="0">
                <a:ea typeface="ＭＳ Ｐゴシック"/>
                <a:cs typeface="Times New Roman" pitchFamily="18" charset="0"/>
              </a:rPr>
              <a:t>Proper drawing and modeling can reveal a character’s weight, character, and emotion.</a:t>
            </a:r>
          </a:p>
          <a:p>
            <a:pPr eaLnBrk="1" hangingPunct="1">
              <a:lnSpc>
                <a:spcPct val="80000"/>
              </a:lnSpc>
            </a:pPr>
            <a:r>
              <a:rPr lang="en-US" sz="2400" dirty="0" smtClean="0">
                <a:ea typeface="ＭＳ Ｐゴシック"/>
                <a:cs typeface="Times New Roman" pitchFamily="18" charset="0"/>
              </a:rPr>
              <a:t>Proper drawing and modeling are needed to give the character proper depth and balance.</a:t>
            </a:r>
            <a:endParaRPr lang="en-US" sz="2400" i="1" dirty="0" smtClean="0">
              <a:ea typeface="ＭＳ Ｐゴシック"/>
              <a:cs typeface="Times New Roman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Texas Education Agency, 2012. All rights reserved. Images and other multimedia content used with permission. 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EBC88FF-DBCA-44F8-95CD-63F1B6BFFB5B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  <p:pic>
        <p:nvPicPr>
          <p:cNvPr id="45061" name="Picture 3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8650" y="1524000"/>
            <a:ext cx="2590800" cy="3821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5062" name="TextBox 4"/>
          <p:cNvSpPr txBox="1">
            <a:spLocks noChangeArrowheads="1"/>
          </p:cNvSpPr>
          <p:nvPr/>
        </p:nvSpPr>
        <p:spPr bwMode="auto">
          <a:xfrm>
            <a:off x="515938" y="5334000"/>
            <a:ext cx="2913062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900" i="1">
                <a:solidFill>
                  <a:schemeClr val="tx1"/>
                </a:solidFill>
                <a:cs typeface="ＭＳ Ｐゴシック"/>
              </a:rPr>
              <a:t>This work is in the </a:t>
            </a:r>
            <a:r>
              <a:rPr lang="en-US" sz="900" b="1" i="1">
                <a:solidFill>
                  <a:schemeClr val="tx1"/>
                </a:solidFill>
                <a:cs typeface="ＭＳ Ｐゴシック"/>
              </a:rPr>
              <a:t>public domain</a:t>
            </a:r>
            <a:r>
              <a:rPr lang="en-US" sz="900" i="1">
                <a:solidFill>
                  <a:schemeClr val="tx1"/>
                </a:solidFill>
                <a:cs typeface="ＭＳ Ｐゴシック"/>
              </a:rPr>
              <a:t> in the United States because it is a work prepared by an officer or employee of the United States Government as part of that person’s official duties under the terms of</a:t>
            </a:r>
            <a:r>
              <a:rPr lang="en-US" sz="900">
                <a:solidFill>
                  <a:schemeClr val="tx1"/>
                </a:solidFill>
                <a:cs typeface="ＭＳ Ｐゴシック"/>
              </a:rPr>
              <a:t> Title 17, Chapter 1, Section 105 of the US Code</a:t>
            </a:r>
            <a:r>
              <a:rPr lang="en-US" sz="900" i="1">
                <a:solidFill>
                  <a:schemeClr val="tx1"/>
                </a:solidFill>
                <a:cs typeface="ＭＳ Ｐゴシック"/>
              </a:rPr>
              <a:t>. See </a:t>
            </a:r>
            <a:r>
              <a:rPr lang="en-US" sz="800" i="1">
                <a:solidFill>
                  <a:schemeClr val="tx1"/>
                </a:solidFill>
                <a:cs typeface="ＭＳ Ｐゴシック"/>
              </a:rPr>
              <a:t>Copyright</a:t>
            </a:r>
            <a:r>
              <a:rPr lang="en-US" sz="900" i="1">
                <a:solidFill>
                  <a:schemeClr val="tx1"/>
                </a:solidFill>
                <a:cs typeface="ＭＳ Ｐゴシック"/>
              </a:rPr>
              <a:t>.</a:t>
            </a:r>
            <a:endParaRPr lang="en-US" sz="900">
              <a:solidFill>
                <a:schemeClr val="tx1"/>
              </a:solidFill>
              <a:cs typeface="ＭＳ Ｐゴシック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Texas Education Agency, 2012. All rights reserved. Images and other multimedia content used with permission. 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6251FDE-E98F-4553-9B13-58387C976440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  <p:pic>
        <p:nvPicPr>
          <p:cNvPr id="7170" name="Picture 2" descr="http://mnmtanimation.weebly.com/uploads/9/7/5/3/9753703/5204398.jpg?39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990599"/>
            <a:ext cx="3800475" cy="3743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http://bbsimg.ngfiles.com/14/19197000/ngbbs4a15a55a700dd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3348037"/>
            <a:ext cx="5010150" cy="2771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5880197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ea typeface="ＭＳ Ｐゴシック"/>
              </a:rPr>
              <a:t>12. Appeal </a:t>
            </a:r>
          </a:p>
        </p:txBody>
      </p:sp>
      <p:sp>
        <p:nvSpPr>
          <p:cNvPr id="4710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81400" y="1719263"/>
            <a:ext cx="5257800" cy="4411662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400" dirty="0" smtClean="0">
                <a:ea typeface="ＭＳ Ｐゴシック"/>
                <a:cs typeface="Times New Roman" pitchFamily="18" charset="0"/>
              </a:rPr>
              <a:t>Animated characters need to have a unique personality and have a wide range of emotions (happy, excited, fearful, embarrassed, angry, scared, etc.).</a:t>
            </a:r>
          </a:p>
          <a:p>
            <a:pPr eaLnBrk="1" hangingPunct="1">
              <a:lnSpc>
                <a:spcPct val="80000"/>
              </a:lnSpc>
            </a:pPr>
            <a:r>
              <a:rPr lang="en-US" sz="2400" dirty="0" smtClean="0">
                <a:ea typeface="ＭＳ Ｐゴシック"/>
                <a:cs typeface="Times New Roman" pitchFamily="18" charset="0"/>
              </a:rPr>
              <a:t>Character flaws are actually a good thing. Audiences can be sympathetic to characters that have a flaw or two.</a:t>
            </a:r>
          </a:p>
          <a:p>
            <a:pPr eaLnBrk="1" hangingPunct="1">
              <a:lnSpc>
                <a:spcPct val="80000"/>
              </a:lnSpc>
            </a:pPr>
            <a:r>
              <a:rPr lang="en-US" sz="2400" dirty="0" smtClean="0">
                <a:ea typeface="ＭＳ Ｐゴシック"/>
                <a:cs typeface="Times New Roman" pitchFamily="18" charset="0"/>
              </a:rPr>
              <a:t>Complex personalities and moral ethical dilemmas add to character appeal.</a:t>
            </a:r>
            <a:endParaRPr lang="en-US" sz="2400" i="1" dirty="0" smtClean="0">
              <a:ea typeface="ＭＳ Ｐゴシック"/>
              <a:cs typeface="Times New Roman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Texas Education Agency, 2012. All rights reserved. Images and other multimedia content used with permission. 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C69C120-2063-4A1E-A4D8-8FCF63F22481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  <p:pic>
        <p:nvPicPr>
          <p:cNvPr id="47109" name="Picture 5" descr="ringo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" y="1752600"/>
            <a:ext cx="3124200" cy="2605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Texas Education Agency, 2012. All rights reserved. Images and other multimedia content used with permission. 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6251FDE-E98F-4553-9B13-58387C976440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  <p:pic>
        <p:nvPicPr>
          <p:cNvPr id="6146" name="Picture 2" descr="http://4.bp.blogspot.com/_97s2BTKOpXI/TPggHFkBb6I/AAAAAAAAABM/jKg_euKNxDY/s320/bambi-thumper-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28600"/>
            <a:ext cx="3048000" cy="2286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https://disneymovieyear.files.wordpress.com/2013/05/photo23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723" y="2743200"/>
            <a:ext cx="4452677" cy="3335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http://por-img.cimcontent.net/api/assets/bin-201308/56676a4461476147aeeb493fcc5f997c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1524000"/>
            <a:ext cx="40005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6021031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Classic in the Field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“Principles of Traditional Animation Applied to 3D Computer Animation” (1987)</a:t>
            </a:r>
          </a:p>
          <a:p>
            <a:r>
              <a:rPr lang="en-US" dirty="0" smtClean="0"/>
              <a:t>John </a:t>
            </a:r>
            <a:r>
              <a:rPr lang="en-US" dirty="0" err="1" smtClean="0"/>
              <a:t>Lasseter</a:t>
            </a:r>
            <a:r>
              <a:rPr lang="en-US" dirty="0" smtClean="0"/>
              <a:t> (fired from Disney in 1984 for promoting computer animation, directed Toy Story in 1995, now chief of Disney Animation)</a:t>
            </a:r>
          </a:p>
          <a:p>
            <a:r>
              <a:rPr lang="en-US" sz="2000" dirty="0"/>
              <a:t>http://www.siggraph.org/education/materials/HyperGraph/animation/character_animation/principles/prin_trad_anim.htm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Texas Education Agency, 2012. All rights reserved. Images and other multimedia content used with permission. 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6251FDE-E98F-4553-9B13-58387C976440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755768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Network">
  <a:themeElements>
    <a:clrScheme name="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rgbClr val="000066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rgbClr val="000066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2E9B6CD96D99641958BA39014AD57F9" ma:contentTypeVersion="0" ma:contentTypeDescription="Create a new document." ma:contentTypeScope="" ma:versionID="8ec471fb3c9feee5a6afb375224b5fc6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64490b4aec6201516c3a874156f37b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795B027-6AE7-495B-9771-6946621D38B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F5058BFB-CDF7-425A-9BCD-36EDA7CD564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984787B-D404-4AD6-AA81-B802F5EFAD55}">
  <ds:schemaRefs>
    <ds:schemaRef ds:uri="http://purl.org/dc/terms/"/>
    <ds:schemaRef ds:uri="http://www.w3.org/XML/1998/namespace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dcmitype/"/>
    <ds:schemaRef ds:uri="http://schemas.microsoft.com/office/2006/documentManagement/typ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unt cte</Template>
  <TotalTime>1145</TotalTime>
  <Words>1840</Words>
  <Application>Microsoft Office PowerPoint</Application>
  <PresentationFormat>On-screen Show (4:3)</PresentationFormat>
  <Paragraphs>198</Paragraphs>
  <Slides>33</Slides>
  <Notes>15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Network</vt:lpstr>
      <vt:lpstr>Animation</vt:lpstr>
      <vt:lpstr>Two main categories</vt:lpstr>
      <vt:lpstr>Low level techniques</vt:lpstr>
      <vt:lpstr>High level techniques</vt:lpstr>
      <vt:lpstr>Heritage of Animation</vt:lpstr>
      <vt:lpstr>Heritage of Animation</vt:lpstr>
      <vt:lpstr>Disney: Animation as an art form</vt:lpstr>
      <vt:lpstr>Walt Disney’s Twelve Principles of Animation </vt:lpstr>
      <vt:lpstr>1. Squash and Stretch</vt:lpstr>
      <vt:lpstr>Examples</vt:lpstr>
      <vt:lpstr>2. Anticipation</vt:lpstr>
      <vt:lpstr>PowerPoint Presentation</vt:lpstr>
      <vt:lpstr>3. Staging</vt:lpstr>
      <vt:lpstr>PowerPoint Presentation</vt:lpstr>
      <vt:lpstr>4. Straight Ahead Versus Pose To Pose </vt:lpstr>
      <vt:lpstr>PowerPoint Presentation</vt:lpstr>
      <vt:lpstr>5. Follow Through and Overlap </vt:lpstr>
      <vt:lpstr>PowerPoint Presentation</vt:lpstr>
      <vt:lpstr>6. Slow In and Slow Out </vt:lpstr>
      <vt:lpstr>PowerPoint Presentation</vt:lpstr>
      <vt:lpstr>6. Slow In and Slow Out </vt:lpstr>
      <vt:lpstr>7. Arcs</vt:lpstr>
      <vt:lpstr>Spline Curves</vt:lpstr>
      <vt:lpstr>8. Secondary Actions </vt:lpstr>
      <vt:lpstr>PowerPoint Presentation</vt:lpstr>
      <vt:lpstr>9. Timing </vt:lpstr>
      <vt:lpstr>10. Exaggeration </vt:lpstr>
      <vt:lpstr>The Triplets of Belleville</vt:lpstr>
      <vt:lpstr>11. Solid Drawing </vt:lpstr>
      <vt:lpstr>PowerPoint Presentation</vt:lpstr>
      <vt:lpstr>12. Appeal </vt:lpstr>
      <vt:lpstr>PowerPoint Presentation</vt:lpstr>
      <vt:lpstr>The Classic in the Field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Cox, Lynne</dc:creator>
  <cp:lastModifiedBy>Frost,Dan</cp:lastModifiedBy>
  <cp:revision>50</cp:revision>
  <cp:lastPrinted>1601-01-01T00:00:00Z</cp:lastPrinted>
  <dcterms:created xsi:type="dcterms:W3CDTF">1601-01-01T00:00:00Z</dcterms:created>
  <dcterms:modified xsi:type="dcterms:W3CDTF">2016-05-03T18:31:27Z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0x01010092E9B6CD96D99641958BA39014AD57F9</vt:lpwstr>
  </property>
</Properties>
</file>